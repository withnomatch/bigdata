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e4ebe62a59f4fb5" /><Relationship Type="http://schemas.openxmlformats.org/officeDocument/2006/relationships/extended-properties" Target="/docProps/app.xml" Id="R6b9a24d6ac2e4356" /><Relationship Type="http://schemas.openxmlformats.org/officeDocument/2006/relationships/officeDocument" Target="/ppt/presentation.xml" Id="Rcd88ffc53c034c1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3ad303738c74851"/>
  </p:sldMasterIdLst>
  <p:notesMasterIdLst>
    <p:notesMasterId xmlns:r="http://schemas.openxmlformats.org/officeDocument/2006/relationships" r:id="R04acf8038b264047"/>
  </p:notesMasterIdLst>
  <p:sldIdLst>
    <p:sldId xmlns:r="http://schemas.openxmlformats.org/officeDocument/2006/relationships" id="256" r:id="R75e04b2b0f874359"/>
    <p:sldId xmlns:r="http://schemas.openxmlformats.org/officeDocument/2006/relationships" id="257" r:id="R44262a3fe8ba4904"/>
    <p:sldId xmlns:r="http://schemas.openxmlformats.org/officeDocument/2006/relationships" id="258" r:id="Rd3405ac649334c49"/>
    <p:sldId xmlns:r="http://schemas.openxmlformats.org/officeDocument/2006/relationships" id="259" r:id="R0e81c3b1f92e49eb"/>
    <p:sldId xmlns:r="http://schemas.openxmlformats.org/officeDocument/2006/relationships" id="260" r:id="R18a43c11050146ca"/>
    <p:sldId xmlns:r="http://schemas.openxmlformats.org/officeDocument/2006/relationships" id="261" r:id="R2a8934f8330f4b6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fb2c321f00a49e0" /><Relationship Type="http://schemas.openxmlformats.org/officeDocument/2006/relationships/slideMaster" Target="/ppt/slideMasters/slideMaster1.xml" Id="Rb3ad303738c74851" /><Relationship Type="http://schemas.openxmlformats.org/officeDocument/2006/relationships/notesMaster" Target="/ppt/notesMasters/notesMaster1.xml" Id="R04acf8038b264047" /><Relationship Type="http://schemas.openxmlformats.org/officeDocument/2006/relationships/presProps" Target="/ppt/presProps.xml" Id="Ra829ad1a41b44308" /><Relationship Type="http://schemas.openxmlformats.org/officeDocument/2006/relationships/viewProps" Target="/ppt/viewProps.xml" Id="R52a916d76df640b9" /><Relationship Type="http://schemas.openxmlformats.org/officeDocument/2006/relationships/tableStyles" Target="/ppt/tableStyles.xml" Id="R5c8aa6b0c6404912" /><Relationship Type="http://schemas.openxmlformats.org/officeDocument/2006/relationships/slide" Target="/ppt/slides/slide1.xml" Id="R75e04b2b0f874359" /><Relationship Type="http://schemas.openxmlformats.org/officeDocument/2006/relationships/slide" Target="/ppt/slides/slide2.xml" Id="R44262a3fe8ba4904" /><Relationship Type="http://schemas.openxmlformats.org/officeDocument/2006/relationships/slide" Target="/ppt/slides/slide3.xml" Id="Rd3405ac649334c49" /><Relationship Type="http://schemas.openxmlformats.org/officeDocument/2006/relationships/slide" Target="/ppt/slides/slide4.xml" Id="R0e81c3b1f92e49eb" /><Relationship Type="http://schemas.openxmlformats.org/officeDocument/2006/relationships/slide" Target="/ppt/slides/slide5.xml" Id="R18a43c11050146ca" /><Relationship Type="http://schemas.openxmlformats.org/officeDocument/2006/relationships/slide" Target="/ppt/slides/slide6.xml" Id="R2a8934f8330f4b6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e410108a2a743d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e7198fc0fba45c8" /><Relationship Type="http://schemas.openxmlformats.org/officeDocument/2006/relationships/notesMaster" Target="/ppt/notesMasters/notesMaster1.xml" Id="R891f9ad2b1c5448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5da91a340504e6d" /><Relationship Type="http://schemas.openxmlformats.org/officeDocument/2006/relationships/notesMaster" Target="/ppt/notesMasters/notesMaster1.xml" Id="R5f6596ddc205441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4c5a3f7fa26468c" /><Relationship Type="http://schemas.openxmlformats.org/officeDocument/2006/relationships/notesMaster" Target="/ppt/notesMasters/notesMaster1.xml" Id="R967b2cfc6bb24d3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258df0efd364350" /><Relationship Type="http://schemas.openxmlformats.org/officeDocument/2006/relationships/notesMaster" Target="/ppt/notesMasters/notesMaster1.xml" Id="R69315e3d0fb14a4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35f2c9b90b54685" /><Relationship Type="http://schemas.openxmlformats.org/officeDocument/2006/relationships/notesMaster" Target="/ppt/notesMasters/notesMaster1.xml" Id="R9a469e565d884da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49d19e5be5c4c38" /><Relationship Type="http://schemas.openxmlformats.org/officeDocument/2006/relationships/notesMaster" Target="/ppt/notesMasters/notesMaster1.xml" Id="R3224aa5b00fb4a0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21eb86cb9e4c3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f445407af424c29" /><Relationship Type="http://schemas.openxmlformats.org/officeDocument/2006/relationships/slideLayout" Target="/ppt/slideLayouts/slideLayout1.xml" Id="R1cc4307b9a2b4e1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cc4307b9a2b4e1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a33fa56a114cbd" /><Relationship Type="http://schemas.openxmlformats.org/officeDocument/2006/relationships/notesSlide" Target="/ppt/notesSlides/notesSlide1.xml" Id="R3dad2f1e9de04c0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dfb0d203634789" /><Relationship Type="http://schemas.openxmlformats.org/officeDocument/2006/relationships/notesSlide" Target="/ppt/notesSlides/notesSlide2.xml" Id="Rdc5253a82bfe4d7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06587b844d45f4" /><Relationship Type="http://schemas.openxmlformats.org/officeDocument/2006/relationships/notesSlide" Target="/ppt/notesSlides/notesSlide3.xml" Id="Rea00d6a19d474d3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1aca64b3094ca3" /><Relationship Type="http://schemas.openxmlformats.org/officeDocument/2006/relationships/notesSlide" Target="/ppt/notesSlides/notesSlide4.xml" Id="Rb6569e8a5753426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77d46c4c3c4908" /><Relationship Type="http://schemas.openxmlformats.org/officeDocument/2006/relationships/notesSlide" Target="/ppt/notesSlides/notesSlide5.xml" Id="R5a1402c3722b434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53475e2e8a4c01" /><Relationship Type="http://schemas.openxmlformats.org/officeDocument/2006/relationships/notesSlide" Target="/ppt/notesSlides/notesSlide6.xml" Id="R71a1a37b0629417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882BBD-D08D-4BA9-9183-7586FD668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F7F5E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E52176-B738-45D7-A0F4-D5A2A775C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F7F5EF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D6CD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D6CDF"/>
                </a:solidFill>
                <a:latin typeface="Arial"/>
                <a:ea typeface="Arial"/>
                <a:cs typeface="Arial"/>
              </a:rPr>
              <a:t>F TASK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1185A9-B820-455C-903B-057852183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7810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F7F5EF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基准能跑通，但K-Means执行参数仍决定质量与时间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F116AA-4C31-4008-BE6A-DCEFADDA7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23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4763">
            <a:solidFill>
              <a:srgbClr val="2D6CD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D5F59B-D45C-406F-8216-5138D8D96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5905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F7F5EF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F部分聚焦在不改变TF-IDF特征的前提下，比较初始化方法、距离表示、迭代次数和多次运行策略。这样能与K值选择、特征提取优化解耦，方便AB汇总。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1A27A0-2F1B-4B50-BFFC-D9BF90D40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95600"/>
            <a:ext cx="23812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2C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7F1554-CB9A-4A1C-AFEE-DB244E22E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95600"/>
            <a:ext cx="571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4763">
            <a:solidFill>
              <a:srgbClr val="2D6CD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C74852-0F08-48FF-9B44-5A2B9A4EE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67050"/>
            <a:ext cx="209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15344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A79331-15E7-4022-BBFE-21E853A9C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480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基准样本量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2A6E99-CA6E-480F-BAE6-FD6096407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957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10% sample from StackOverflow Oracle dataset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474981-988B-46A1-8614-C8ABB2920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895600"/>
            <a:ext cx="23812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2C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BF2E35-0B66-44AF-80A4-F494ED66E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895600"/>
            <a:ext cx="571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5D3F"/>
          </a:solidFill>
          <a:ln xmlns:a="http://schemas.openxmlformats.org/drawingml/2006/main" w="4763">
            <a:solidFill>
              <a:srgbClr val="E35D3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DDE50D-381B-44EE-9575-122C8E9FA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67050"/>
            <a:ext cx="209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1463s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579753-BA34-4201-82CC-DCB8A92CF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4480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K-Means耗时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986F3F-6063-4283-90AE-155DF0656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6957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baseline maxIter=30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339436-DA6B-4A8F-BDD2-EDDCAB393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95600"/>
            <a:ext cx="23812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2C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F7DAE7-0F69-472A-BB4E-1F54D2B4F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95600"/>
            <a:ext cx="571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B"/>
          </a:solidFill>
          <a:ln xmlns:a="http://schemas.openxmlformats.org/drawingml/2006/main" w="4763">
            <a:solidFill>
              <a:srgbClr val="D99A2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D8F8E5-0A23-45E7-937E-0F9FBF918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067050"/>
            <a:ext cx="209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38.3%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1CA016-C19D-43B9-A043-B7D302DCE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4480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最大簇占比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D37E68-493F-4D0D-9C0C-FA208C839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6957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5874 / 15344 questions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3E8847-9B6A-4747-B2ED-D5EE73B77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0"/>
            <a:ext cx="3543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4763">
            <a:solidFill>
              <a:srgbClr val="101820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F6139A-4FAD-4F47-9C29-F4A2A7423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74295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101820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优化问题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A31FF5-22E5-4C43-AF73-A2F0C8030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181100"/>
            <a:ext cx="2647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101820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同样的K=50和TF-IDF特征下，执行参数会改变初始中心、收敛速度、簇分布和最终局部最优。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85C5C6-6376-4907-A044-D7BBBF681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705100"/>
            <a:ext cx="2305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4763">
            <a:solidFill>
              <a:srgbClr val="2D6CDF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EA081B-E88A-43EC-826A-3EAC018DA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028950"/>
            <a:ext cx="2590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101820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9E2F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9E2F2"/>
                </a:solidFill>
                <a:latin typeface="Arial"/>
                <a:ea typeface="Arial"/>
                <a:cs typeface="Arial"/>
              </a:rPr>
              <a:t>本部分目标不是把实验组合做满，而是用较少实验讲清楚时间与效果的折中。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341162-31C6-4AD6-87EF-2D7DAC5DB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876800"/>
            <a:ext cx="2876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4763">
            <a:solidFill>
              <a:srgbClr val="E8F0F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FE570D-29C2-4616-A76D-95A0C0931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924425"/>
            <a:ext cx="2724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0">
            <a:solidFill>
              <a:srgbClr val="E8F0FF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D6CD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D6CDF"/>
                </a:solidFill>
                <a:latin typeface="Arial"/>
                <a:ea typeface="Arial"/>
                <a:cs typeface="Arial"/>
              </a:rPr>
              <a:t>output: experiment_results + best_config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7B6146-E752-401B-ACF0-F31F16DF3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7225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F7F5EF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Source: PJ/log.txt baseline run; F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23489120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13B13C-09D3-4B11-AB1A-C07900B30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F7F5E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0680E0-7B9F-4DAA-BD55-B3834A306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F7F5EF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D6CD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D6CDF"/>
                </a:solidFill>
                <a:latin typeface="Arial"/>
                <a:ea typeface="Arial"/>
                <a:cs typeface="Arial"/>
              </a:rPr>
              <a:t>FRAMEWORK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551AB4-E9AA-4795-AC72-3988BE5C5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7810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F7F5EF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执行优化拆成四个变量，和其他优化路线互不阻塞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DF0E1E-FDA6-4839-8914-96E25244B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23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4763">
            <a:solidFill>
              <a:srgbClr val="2D6CD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50B6FA-DBE7-47FF-8AF4-82B15E15E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255270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2C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4B7C16-5499-4648-B6C8-07D5BBEA5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2552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4763">
            <a:solidFill>
              <a:srgbClr val="2D6CD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FC6106-CE96-4445-BC1F-AEC8962C7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514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D6CD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D6CD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EB4B61-B17E-41D4-A81F-A871598EA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51460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初始化方法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905AA5-9B3B-4A38-9AA1-7FD2AFC20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670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random vs k-means||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7BBA58-537F-4357-A1A1-FC5FAC738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8615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影响初始中心质量与收敛稳定性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47E4E6-8B20-4816-91DC-3362ACEEF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2575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2C8"/>
          </a:solidFill>
          <a:ln xmlns:a="http://schemas.openxmlformats.org/drawingml/2006/main" w="4763">
            <a:solidFill>
              <a:srgbClr val="D7D2C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ED8B19-A0C9-4CC2-B3B2-B61A0339C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228850"/>
            <a:ext cx="255270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2C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5B1268-8AF5-46FD-8C7A-E6A499B91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228850"/>
            <a:ext cx="2552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4763">
            <a:solidFill>
              <a:srgbClr val="2A9D8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1445E8-37F9-4DEC-9290-E40CF0E69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476500"/>
            <a:ext cx="514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6A85BB-7C1F-4960-8DCF-7A4FEBCCF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1460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距离表示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F89465-0626-4950-811A-73C341A52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670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raw TF-IDF vs L2 normalized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928055-8336-48D7-8629-888AFBC8E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48615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Spark 2.0下用归一化欧氏近似余弦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5A4310-4E3F-420F-B124-F04805D16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2575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2C8"/>
          </a:solidFill>
          <a:ln xmlns:a="http://schemas.openxmlformats.org/drawingml/2006/main" w="4763">
            <a:solidFill>
              <a:srgbClr val="D7D2C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205AB2-FB45-4538-9A53-BD28849AA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28850"/>
            <a:ext cx="255270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2C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3C4E98-040E-41CF-8581-8EDF2F137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28850"/>
            <a:ext cx="2552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B"/>
          </a:solidFill>
          <a:ln xmlns:a="http://schemas.openxmlformats.org/drawingml/2006/main" w="4763">
            <a:solidFill>
              <a:srgbClr val="D99A2B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985B90-C974-4123-8C43-47FB4674E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76500"/>
            <a:ext cx="514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99A2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99A2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7A1E29-97C2-4945-A032-B02255CD9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51460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迭代次数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549529-AB14-4A37-8F25-8D1EE297B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0670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10 / 20 / 30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48D21E-0E54-4B39-BC9F-E4CE16CAC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48615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观察效果提升是否值得额外运行时间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28D8B4-57D0-4A15-B3B8-A16F3DCD0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2575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2C8"/>
          </a:solidFill>
          <a:ln xmlns:a="http://schemas.openxmlformats.org/drawingml/2006/main" w="4763">
            <a:solidFill>
              <a:srgbClr val="D7D2C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599EC9-497D-41CF-84D8-E37F9D17B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228850"/>
            <a:ext cx="255270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2C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9F8CEB-4051-4850-81A9-8063BD6A2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228850"/>
            <a:ext cx="2552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5D3F"/>
          </a:solidFill>
          <a:ln xmlns:a="http://schemas.openxmlformats.org/drawingml/2006/main" w="4763">
            <a:solidFill>
              <a:srgbClr val="E35D3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A73B55-61F2-460A-962C-2A42D9CE9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476500"/>
            <a:ext cx="514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35D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35D3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C476AA-7BD8-4DF3-B8FB-BCFC2E97A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51460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运行次数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D25490-8B88-43F9-9B22-B3745D3F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0670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seed 42 / 2026 / 3407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1B3CFC7-3582-4E57-B250-0A1D2D7F6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48615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模拟多次初始化，降低局部最优偶然性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B8D6728-9297-459B-A0F5-C3B4220EA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33950"/>
            <a:ext cx="10477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4763">
            <a:solidFill>
              <a:srgbClr val="E8F0FF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F8B8D99-8629-4E6D-B342-B54EE6B4C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2445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0">
            <a:solidFill>
              <a:srgbClr val="E8F0FF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D6CD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D6CDF"/>
                </a:solidFill>
                <a:latin typeface="Arial"/>
                <a:ea typeface="Arial"/>
                <a:cs typeface="Arial"/>
              </a:rPr>
              <a:t>分层优化逻辑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D4E3612-AA0C-40BD-807B-78C1D9A4F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067300"/>
            <a:ext cx="8001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0">
            <a:solidFill>
              <a:srgbClr val="E8F0FF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B负责K值结构选择；E负责算法结构与后处理；F只负责K-Means执行参数。分工边界清楚，最后能把各路线结果横向汇总。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726273C-7249-465B-BA59-35B223144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02870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6F3"/>
          </a:solidFill>
          <a:ln xmlns:a="http://schemas.openxmlformats.org/drawingml/2006/main" w="4763">
            <a:solidFill>
              <a:srgbClr val="E8F6F3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505A00E-32BD-4FC8-87C8-76D11660E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076325"/>
            <a:ext cx="2895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6F3"/>
          </a:solidFill>
          <a:ln xmlns:a="http://schemas.openxmlformats.org/drawingml/2006/main" w="0">
            <a:solidFill>
              <a:srgbClr val="E8F6F3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课程项目亮点：聚类结构优化与执行优化分离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EE5DE6B-B169-4B9D-AB6D-6AB3A774C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7225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F7F5EF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Source: project division and F script design</a:t>
            </a:r>
          </a:p>
        </p:txBody>
      </p:sp>
    </p:spTree>
    <p:extLst>
      <p:ext uri="{BB962C8B-B14F-4D97-AF65-F5344CB8AC3E}">
        <p14:creationId xmlns:p14="http://schemas.microsoft.com/office/powerpoint/2010/main" val="2765451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EED3436-A71B-48B4-AEC9-6394F6261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F7F5E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636BB8-49BC-4999-A024-746B7A45A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F7F5EF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D6CD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D6CDF"/>
                </a:solidFill>
                <a:latin typeface="Arial"/>
                <a:ea typeface="Arial"/>
                <a:cs typeface="Arial"/>
              </a:rPr>
              <a:t>EXPERIMENT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9D0D8E-B20A-437C-BC4F-43C7376F8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7810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F7F5EF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聚焦实验覆盖核心问题，比全量网格更适合课程项目时间预算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25BE1E-1E7D-4952-86F4-FA9510B3C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23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4763">
            <a:solidFill>
              <a:srgbClr val="2D6CD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B5A65E-B74C-455C-91D2-390D5EBE3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85950"/>
            <a:ext cx="10858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4763">
            <a:solidFill>
              <a:srgbClr val="101820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F8FCCE-EB2C-4369-800C-A78D7CD90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812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101820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优化维度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D7DDD1-D15C-4B73-961C-06282BC52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9812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101820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对比方案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EB8931-D6D6-4944-B9C0-9B6DD2871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98120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101820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控制变量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814470-17BE-40DF-9B4D-0A6060D9D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10858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2C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24509B-989F-4A10-98E3-D2A53E05E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86025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初始化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191713-5F38-4885-B841-0640151DF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486025"/>
            <a:ext cx="219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D6CD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D6CDF"/>
                </a:solidFill>
                <a:latin typeface="Arial"/>
                <a:ea typeface="Arial"/>
                <a:cs typeface="Arial"/>
              </a:rPr>
              <a:t>random / k-means||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8C57F0-E35B-4715-B11C-C64CE5AC4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486025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固定 distance=cosine、maxIter=20、seed=42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8ECD83-328D-4F2F-A417-525FCDCC2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9900"/>
            <a:ext cx="10858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4763">
            <a:solidFill>
              <a:srgbClr val="D7D2C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469DCF-AAA6-4BC6-BCC5-53C5E7FD9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09925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0">
            <a:solidFill>
              <a:srgbClr val="FBFAF6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距离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672EB9-5177-4ACE-9294-48744E965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209925"/>
            <a:ext cx="219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0">
            <a:solidFill>
              <a:srgbClr val="FBFAF6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euclidean / cosine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E3BE2A-A96F-4A9F-9474-F1D7B9A72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209925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0">
            <a:solidFill>
              <a:srgbClr val="FBFAF6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固定 init=k-means||、maxIter=20、seed=42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6F7BF3-FA40-41FA-B160-C50DAB9C4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33800"/>
            <a:ext cx="10858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2C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2A1D89-DB8F-47B7-BA89-DA5BCCECA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33825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迭代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91729C-237F-47FE-80F1-2B1FA84BB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933825"/>
            <a:ext cx="219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9A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99A2B"/>
                </a:solidFill>
                <a:latin typeface="Arial"/>
                <a:ea typeface="Arial"/>
                <a:cs typeface="Arial"/>
              </a:rPr>
              <a:t>10 / 20 / 30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3A83B5-3ECF-4690-8A82-A641E3942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933825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固定 init=k-means||、distance=cosine、seed=42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34C7BB-A0D7-487F-B840-590B770D5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57700"/>
            <a:ext cx="10858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4763">
            <a:solidFill>
              <a:srgbClr val="D7D2C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C43ED7-4F7A-4764-9B88-5EC983714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57725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0">
            <a:solidFill>
              <a:srgbClr val="FBFAF6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多次运行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01C635-D663-4557-9A05-F77B4F14F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657725"/>
            <a:ext cx="219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0">
            <a:solidFill>
              <a:srgbClr val="FBFAF6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35D3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35D3F"/>
                </a:solidFill>
                <a:latin typeface="Arial"/>
                <a:ea typeface="Arial"/>
                <a:cs typeface="Arial"/>
              </a:rPr>
              <a:t>42 / 2026 / 3407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34C03F-CB0C-412C-9F69-1DB70D97A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657725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0">
            <a:solidFill>
              <a:srgbClr val="FBFAF6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固定推荐默认配置，比较不同随机初始状态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D74D50-2B7D-4C3D-B7A6-4398AE4E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467350"/>
            <a:ext cx="4381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6F3"/>
          </a:solidFill>
          <a:ln xmlns:a="http://schemas.openxmlformats.org/drawingml/2006/main" w="4763">
            <a:solidFill>
              <a:srgbClr val="E8F6F3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BF13D2-8B7B-4B6D-B652-936446818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6007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6F3"/>
          </a:solidFill>
          <a:ln xmlns:a="http://schemas.openxmlformats.org/drawingml/2006/main" w="0">
            <a:solidFill>
              <a:srgbClr val="E8F6F3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默认聚焦实验：7组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2CBE97-5965-496F-8041-985E3EB27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629275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6F3"/>
          </a:solidFill>
          <a:ln xmlns:a="http://schemas.openxmlformats.org/drawingml/2006/main" w="0">
            <a:solidFill>
              <a:srgbClr val="E8F6F3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全量网格约 36 组，运行时间会明显放大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2271DD-ABA5-4A5F-8A10-71B536806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67350"/>
            <a:ext cx="4095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6"/>
          </a:solidFill>
          <a:ln xmlns:a="http://schemas.openxmlformats.org/drawingml/2006/main" w="4763">
            <a:solidFill>
              <a:srgbClr val="FBEAE6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4ED64A-2C09-4384-BD2C-7BB19EAC0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6007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6"/>
          </a:solidFill>
          <a:ln xmlns:a="http://schemas.openxmlformats.org/drawingml/2006/main" w="0">
            <a:solidFill>
              <a:srgbClr val="FBEAE6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35D3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35D3F"/>
                </a:solidFill>
                <a:latin typeface="Arial"/>
                <a:ea typeface="Arial"/>
                <a:cs typeface="Arial"/>
              </a:rPr>
              <a:t>运行时间单独记录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293E84-E117-4BF3-AD7D-D774F4BD6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629275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6"/>
          </a:solidFill>
          <a:ln xmlns:a="http://schemas.openxmlformats.org/drawingml/2006/main" w="0">
            <a:solidFill>
              <a:srgbClr val="FBEAE6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用于回答助教关于资源消耗的问题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67601D0-590D-41FE-9968-7329E9AA3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7225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F7F5EF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Source: run_f_optimization.sh default focused plan</a:t>
            </a:r>
          </a:p>
        </p:txBody>
      </p:sp>
    </p:spTree>
    <p:extLst>
      <p:ext uri="{BB962C8B-B14F-4D97-AF65-F5344CB8AC3E}">
        <p14:creationId xmlns:p14="http://schemas.microsoft.com/office/powerpoint/2010/main" val="165416469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6663C8-72C1-4405-A3EF-0CAC865FC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F7F5E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53E347-70D7-4AB8-ADC8-CC6EEF15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F7F5EF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D6CD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D6CDF"/>
                </a:solidFill>
                <a:latin typeface="Arial"/>
                <a:ea typeface="Arial"/>
                <a:cs typeface="Arial"/>
              </a:rPr>
              <a:t>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D05E53-43CD-4E61-BF6C-20C750685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7810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F7F5EF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完整实验把每组配置的质量、时间和簇分布放到同一张表里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482586-6776-410C-AA7C-685BE523C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23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4763">
            <a:solidFill>
              <a:srgbClr val="2D6CD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47AF1C-6C57-48C9-A8A9-C0B1D3FE0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57350"/>
            <a:ext cx="11163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4763">
            <a:solidFill>
              <a:srgbClr val="101820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CCB4C7-D619-458A-972F-75FFC68DA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101820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A1F354-3CC3-4AB9-89A2-A984E354C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752600"/>
            <a:ext cx="29051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101820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配置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DE8F29-7292-4A03-A385-1147C808F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7526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101820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time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D8B324-D070-4383-9CB6-AE5A61D74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7526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101820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silhouette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A78F54-08EA-41A0-8D5A-7034637E5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7526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101820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最大簇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6473EB-C067-4E60-9883-0FF061AA2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7526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101820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单点簇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BB4DFF-7E3E-4879-8EE7-EB1D2E965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75260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101820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说明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F9E0F8-B1B3-4642-81D3-BD1789999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38350"/>
            <a:ext cx="11163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6F3"/>
          </a:solidFill>
          <a:ln xmlns:a="http://schemas.openxmlformats.org/drawingml/2006/main" w="4763">
            <a:solidFill>
              <a:srgbClr val="D7D2C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FAF9E2-8698-40B5-97AF-22C52191B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552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6F3"/>
          </a:solidFill>
          <a:ln xmlns:a="http://schemas.openxmlformats.org/drawingml/2006/main" w="0">
            <a:solidFill>
              <a:srgbClr val="E8F6F3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F01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0F0D58-748E-4D3F-AEF5-7C833CB12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62175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6F3"/>
          </a:solidFill>
          <a:ln xmlns:a="http://schemas.openxmlformats.org/drawingml/2006/main" w="0">
            <a:solidFill>
              <a:srgbClr val="E8F6F3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random/cosine/i20/s42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A5AB02-9C61-45D1-BE5D-331C6586C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190750"/>
            <a:ext cx="895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6F3"/>
          </a:solidFill>
          <a:ln xmlns:a="http://schemas.openxmlformats.org/drawingml/2006/main" w="0">
            <a:solidFill>
              <a:srgbClr val="E8F6F3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16.8s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45B90F-18BE-46DA-A2C8-FC65DD629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9075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6F3"/>
          </a:solidFill>
          <a:ln xmlns:a="http://schemas.openxmlformats.org/drawingml/2006/main" w="0">
            <a:solidFill>
              <a:srgbClr val="E8F6F3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6CD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D6CDF"/>
                </a:solidFill>
                <a:latin typeface="Arial"/>
                <a:ea typeface="Arial"/>
                <a:cs typeface="Arial"/>
              </a:rPr>
              <a:t>0.121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A2FF00-E026-4075-8189-D46939ED8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190750"/>
            <a:ext cx="895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6F3"/>
          </a:solidFill>
          <a:ln xmlns:a="http://schemas.openxmlformats.org/drawingml/2006/main" w="0">
            <a:solidFill>
              <a:srgbClr val="E8F6F3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19.7%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460C8A-6B32-4DB8-AE74-335592C38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9075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6F3"/>
          </a:solidFill>
          <a:ln xmlns:a="http://schemas.openxmlformats.org/drawingml/2006/main" w="0">
            <a:solidFill>
              <a:srgbClr val="E8F6F3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4D5501-2030-4546-BD3A-EA49664E1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1907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6F3"/>
          </a:solidFill>
          <a:ln xmlns:a="http://schemas.openxmlformats.org/drawingml/2006/main" w="0">
            <a:solidFill>
              <a:srgbClr val="E8F6F3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最终推荐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E32250-C9A5-4F0A-9B92-816DB122B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90800"/>
            <a:ext cx="11163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4763">
            <a:solidFill>
              <a:srgbClr val="D7D2C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B75316-27A3-4BC4-B7BA-E24CBC281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552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0">
            <a:solidFill>
              <a:srgbClr val="FBFAF6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F02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DEE119-030C-4C89-9ABF-FB6B1F8B2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14625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0">
            <a:solidFill>
              <a:srgbClr val="FBFAF6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k-means||/cosine/i20/s42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F81A69-9A3B-48E9-9CD3-0401CD4BF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743200"/>
            <a:ext cx="895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0">
            <a:solidFill>
              <a:srgbClr val="FBFAF6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15.0s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001EAC-C56F-44CF-AB4F-A1C4899BE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4320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0">
            <a:solidFill>
              <a:srgbClr val="FBFAF6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6CD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D6CDF"/>
                </a:solidFill>
                <a:latin typeface="Arial"/>
                <a:ea typeface="Arial"/>
                <a:cs typeface="Arial"/>
              </a:rPr>
              <a:t>0.115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FE56EC-3EE8-4FE6-B08E-7BD90323D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743200"/>
            <a:ext cx="895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0">
            <a:solidFill>
              <a:srgbClr val="FBFAF6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37.3%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5C74CD-BC02-4B3D-82A7-E0A4DEADD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4320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0">
            <a:solidFill>
              <a:srgbClr val="FBFAF6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859272-1A4C-4409-90CC-5E6CC8713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432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0">
            <a:solidFill>
              <a:srgbClr val="FBFAF6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候选配置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10F337-A647-44EE-BEA8-E2CB781FD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0"/>
            <a:ext cx="11163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6"/>
          </a:solidFill>
          <a:ln xmlns:a="http://schemas.openxmlformats.org/drawingml/2006/main" w="4763">
            <a:solidFill>
              <a:srgbClr val="D7D2C8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B6982D8-9586-4834-B2B8-66420EA78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14700"/>
            <a:ext cx="552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6"/>
          </a:solidFill>
          <a:ln xmlns:a="http://schemas.openxmlformats.org/drawingml/2006/main" w="0">
            <a:solidFill>
              <a:srgbClr val="FBEAE6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F03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99BE6D3-CC86-42FF-8858-566089224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67075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6"/>
          </a:solidFill>
          <a:ln xmlns:a="http://schemas.openxmlformats.org/drawingml/2006/main" w="0">
            <a:solidFill>
              <a:srgbClr val="FBEAE6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k-means||/euclidean/i20/s42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4B9895-5772-49E1-A425-A2854C411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295650"/>
            <a:ext cx="895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6"/>
          </a:solidFill>
          <a:ln xmlns:a="http://schemas.openxmlformats.org/drawingml/2006/main" w="0">
            <a:solidFill>
              <a:srgbClr val="FBEAE6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2.8m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4605CDA-AA7F-4EA8-BAA1-79A6DF404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9565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6"/>
          </a:solidFill>
          <a:ln xmlns:a="http://schemas.openxmlformats.org/drawingml/2006/main" w="0">
            <a:solidFill>
              <a:srgbClr val="FBEAE6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6CD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D6CDF"/>
                </a:solidFill>
                <a:latin typeface="Arial"/>
                <a:ea typeface="Arial"/>
                <a:cs typeface="Arial"/>
              </a:rPr>
              <a:t>0.732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D9C741F-835A-4F46-9DF3-2C63D56B0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295650"/>
            <a:ext cx="895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6"/>
          </a:solidFill>
          <a:ln xmlns:a="http://schemas.openxmlformats.org/drawingml/2006/main" w="0">
            <a:solidFill>
              <a:srgbClr val="FBEAE6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35D3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35D3F"/>
                </a:solidFill>
                <a:latin typeface="Arial"/>
                <a:ea typeface="Arial"/>
                <a:cs typeface="Arial"/>
              </a:rPr>
              <a:t>99.0%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4EF67A6-B801-44AC-B34E-A84EC3606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9565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6"/>
          </a:solidFill>
          <a:ln xmlns:a="http://schemas.openxmlformats.org/drawingml/2006/main" w="0">
            <a:solidFill>
              <a:srgbClr val="FBEAE6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3E033EE-B45C-4976-BE0C-560F9857C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956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6"/>
          </a:solidFill>
          <a:ln xmlns:a="http://schemas.openxmlformats.org/drawingml/2006/main" w="0">
            <a:solidFill>
              <a:srgbClr val="FBEAE6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最高分但退化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D168844-A6E9-4E7E-A0AF-0D3FA145D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95700"/>
            <a:ext cx="11163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4763">
            <a:solidFill>
              <a:srgbClr val="D7D2C8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E80884-FDE4-4B21-A6F1-9F00051D5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67150"/>
            <a:ext cx="552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0">
            <a:solidFill>
              <a:srgbClr val="FBFAF6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F04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1FE31F3-3F3F-403B-8ABD-AD64E5923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19525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0">
            <a:solidFill>
              <a:srgbClr val="FBFAF6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k-means||/cosine/i10/s42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2362D4C-5DA9-4B5A-8C39-C8D800E2B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848100"/>
            <a:ext cx="895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0">
            <a:solidFill>
              <a:srgbClr val="FBFAF6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9.7s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E3E8ED6-91DA-4454-8957-52BF8C94A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84810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0">
            <a:solidFill>
              <a:srgbClr val="FBFAF6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6CD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D6CDF"/>
                </a:solidFill>
                <a:latin typeface="Arial"/>
                <a:ea typeface="Arial"/>
                <a:cs typeface="Arial"/>
              </a:rPr>
              <a:t>0.112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3D49E1C-E5A5-43E5-8F53-130C4C484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848100"/>
            <a:ext cx="895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0">
            <a:solidFill>
              <a:srgbClr val="FBFAF6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40.1%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B0EE23B-C79A-4001-B5B4-E92B711D8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84810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0">
            <a:solidFill>
              <a:srgbClr val="FBFAF6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1A36495-6079-4EAB-8AA4-DA881838F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8481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0">
            <a:solidFill>
              <a:srgbClr val="FBFAF6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候选配置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BA4516A-DED5-4B96-890E-1B3598B3D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48150"/>
            <a:ext cx="11163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2C8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4B26E3E-842F-4277-9F2E-755C06C0C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19600"/>
            <a:ext cx="552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F05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9F443A6-8C16-4533-A3FF-6A2A8B4A3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71975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k-means||/cosine/i30/s42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1912416-A632-4B57-BD72-985FF820C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400550"/>
            <a:ext cx="895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21.9s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D46F048-1CD9-45AB-971D-531ADA793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0055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6CD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D6CDF"/>
                </a:solidFill>
                <a:latin typeface="Arial"/>
                <a:ea typeface="Arial"/>
                <a:cs typeface="Arial"/>
              </a:rPr>
              <a:t>0.115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28E84D7-6F8A-48C5-BA47-06718ED47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00550"/>
            <a:ext cx="895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36.4%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FC5031F-67CA-448B-A7F2-4366B21F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0055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3134604-37D0-4AE3-98B7-2622AF99B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005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候选配置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DC440A4-6951-49A6-B03C-C9B5124A0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00600"/>
            <a:ext cx="11163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4763">
            <a:solidFill>
              <a:srgbClr val="D7D2C8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7AD66E3-9B93-49AC-A7FD-EB8F2AC90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72050"/>
            <a:ext cx="552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0">
            <a:solidFill>
              <a:srgbClr val="FBFAF6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F06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8885476-64E0-4AFA-9573-CE5EED370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24425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0">
            <a:solidFill>
              <a:srgbClr val="FBFAF6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k-means||/cosine/i20/s2026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67E2E45-1305-40B1-ABB8-B3FE7C8A4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953000"/>
            <a:ext cx="895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0">
            <a:solidFill>
              <a:srgbClr val="FBFAF6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15.1s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B33D51C-314E-474D-8DAA-183E6977B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95300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0">
            <a:solidFill>
              <a:srgbClr val="FBFAF6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6CD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D6CDF"/>
                </a:solidFill>
                <a:latin typeface="Arial"/>
                <a:ea typeface="Arial"/>
                <a:cs typeface="Arial"/>
              </a:rPr>
              <a:t>0.118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5B4E716-BEA4-47CC-87C2-89D6DEB37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953000"/>
            <a:ext cx="895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0">
            <a:solidFill>
              <a:srgbClr val="FBFAF6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35.5%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AA00422-573B-4693-9C06-FED846DE9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95300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0">
            <a:solidFill>
              <a:srgbClr val="FBFAF6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C6F9ED0-E876-41AC-BCB9-7ACD3CE79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9530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0">
            <a:solidFill>
              <a:srgbClr val="FBFAF6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候选配置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9763172-70DA-42ED-AEB2-E5726D923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53050"/>
            <a:ext cx="11163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2C8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17A1D8F-8FF9-4B1D-AB79-0CDA46039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0"/>
            <a:ext cx="552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F07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5EEBB38-6FAE-42E9-ABE9-C54993E7C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76875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k-means||/cosine/i20/s3407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1E5CF9B-0235-487D-B82F-1B73919B8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505450"/>
            <a:ext cx="895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18.2s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3930AFC-B2A9-4410-9E96-044731120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50545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6CD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D6CDF"/>
                </a:solidFill>
                <a:latin typeface="Arial"/>
                <a:ea typeface="Arial"/>
                <a:cs typeface="Arial"/>
              </a:rPr>
              <a:t>0.120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73BE9DC-9799-4FC9-8427-E00055489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505450"/>
            <a:ext cx="895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30.3%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7DF6029-7C99-4ECC-BA5A-6F900D2E8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50545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3A436A9-8F48-44C3-AE9C-2D14EC73B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5054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候选配置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502BB6D-BB7A-4C7C-8605-9E4BF347B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923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4763">
            <a:solidFill>
              <a:srgbClr val="E8F0FF"/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2F51318-E28E-40E5-A908-D92446C5B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24840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0">
            <a:solidFill>
              <a:srgbClr val="E8F0FF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D6CD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D6CDF"/>
                </a:solidFill>
                <a:latin typeface="Arial"/>
                <a:ea typeface="Arial"/>
                <a:cs typeface="Arial"/>
              </a:rPr>
              <a:t>读表方式：silhouette越高越好，但最大簇占比过大表示问题被塞进“杂项簇”，需要结合时间与簇分布一起判断。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D079875-7493-4F8F-AAF7-C320E9BD1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7225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F7F5EF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Source: HDFS experiment_results</a:t>
            </a:r>
          </a:p>
        </p:txBody>
      </p:sp>
    </p:spTree>
    <p:extLst>
      <p:ext uri="{BB962C8B-B14F-4D97-AF65-F5344CB8AC3E}">
        <p14:creationId xmlns:p14="http://schemas.microsoft.com/office/powerpoint/2010/main" val="101786207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7657E0-37C3-4AA5-A5F1-C977AF4FF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F7F5E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101334-D877-46F8-AC11-3F0632B2E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F7F5EF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D6CD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D6CDF"/>
                </a:solidFill>
                <a:latin typeface="Arial"/>
                <a:ea typeface="Arial"/>
                <a:cs typeface="Arial"/>
              </a:rPr>
              <a:t>TRADEOFF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2DD56B-8F3F-49AD-9611-EB3FFF55B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7810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F7F5EF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推荐配置不是单看最高分，而是平衡质量、时间和簇分布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802340-5FF0-4F5E-91E5-B64E56F98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23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4763">
            <a:solidFill>
              <a:srgbClr val="2D6CD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BCC2D0-BBC5-432B-8EEE-3BDAAD183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6858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2C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F75783-A48B-48FD-B9F0-7FBA91996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0025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近似轮廓系数 / 运行时间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72250E-3DD8-40AC-A250-95F7964B4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6697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F01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F5E17B-6489-4F40-A1A1-536610F5A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38400"/>
            <a:ext cx="409792" cy="0"/>
          </a:xfrm>
          <a:prstGeom xmlns:a="http://schemas.openxmlformats.org/drawingml/2006/main" prst="rect">
            <a:avLst/>
          </a:prstGeom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5B0328-0CAF-407A-BAA6-120EA3E70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38400"/>
            <a:ext cx="21229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B"/>
          </a:solidFill>
          <a:ln xmlns:a="http://schemas.openxmlformats.org/drawingml/2006/main" w="4763">
            <a:solidFill>
              <a:srgbClr val="D99A2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9AA9D6-4764-418C-A342-4A6FE3D7A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992" y="2428875"/>
            <a:ext cx="552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0.121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EF5168-8D31-4CFE-B1A8-E4C0622B8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4745" y="2428875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16.8s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245330-1D3C-4549-BC1A-D57D3DA50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7655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F02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B19FB0-D41F-46E1-8170-A8E8A1FF8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47975"/>
            <a:ext cx="388612" cy="0"/>
          </a:xfrm>
          <a:prstGeom xmlns:a="http://schemas.openxmlformats.org/drawingml/2006/main" prst="rect">
            <a:avLst/>
          </a:prstGeom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A5254C-A2C3-4FCD-9228-43D458C58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47975"/>
            <a:ext cx="190643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B"/>
          </a:solidFill>
          <a:ln xmlns:a="http://schemas.openxmlformats.org/drawingml/2006/main" w="4763">
            <a:solidFill>
              <a:srgbClr val="D99A2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9D8638-E5D7-4CA3-8966-EF1D69784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8812" y="2838450"/>
            <a:ext cx="552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0.115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F4FF8F-65B7-4538-ACD8-820CAA829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3093" y="283845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15.0s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377726-75CD-45E6-9216-802DB1931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861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F03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5F81D8-EBDC-432A-A6A7-456242589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57550"/>
            <a:ext cx="2476500" cy="0"/>
          </a:xfrm>
          <a:prstGeom xmlns:a="http://schemas.openxmlformats.org/drawingml/2006/main" prst="rect">
            <a:avLst/>
          </a:prstGeom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08B3F1-33FD-437F-AE47-009169A9F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575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5D3F"/>
          </a:solidFill>
          <a:ln xmlns:a="http://schemas.openxmlformats.org/drawingml/2006/main" w="4763">
            <a:solidFill>
              <a:srgbClr val="E35D3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7C545D-A352-4169-9980-BAF0EB592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248025"/>
            <a:ext cx="552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0.732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A83B7D-4F5E-440E-9A1A-0EE856227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48025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2.8m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83D754-01B2-44AA-8FFC-432F386FA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957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F04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52E727-E22A-43F5-9883-ABDF12F05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67125"/>
            <a:ext cx="379592" cy="0"/>
          </a:xfrm>
          <a:prstGeom xmlns:a="http://schemas.openxmlformats.org/drawingml/2006/main" prst="rect">
            <a:avLst/>
          </a:prstGeom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885419-BABC-4558-8328-92FEC0032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67125"/>
            <a:ext cx="12317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B"/>
          </a:solidFill>
          <a:ln xmlns:a="http://schemas.openxmlformats.org/drawingml/2006/main" w="4763">
            <a:solidFill>
              <a:srgbClr val="D99A2B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9D26F5-117C-4262-9249-7F2128609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9792" y="3657600"/>
            <a:ext cx="552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0.112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8B68C0-6FB8-4B3F-806C-B4AF50573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5620" y="365760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9.7s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7EB506-0C44-4759-8BC1-4979AD402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0527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F05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AB4DA6-5E8F-482B-A45D-A7702ABE3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76700"/>
            <a:ext cx="389238" cy="0"/>
          </a:xfrm>
          <a:prstGeom xmlns:a="http://schemas.openxmlformats.org/drawingml/2006/main" prst="rect">
            <a:avLst/>
          </a:prstGeom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C2AA14-3126-43FD-A0A6-5344D6EF2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076700"/>
            <a:ext cx="277804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B"/>
          </a:solidFill>
          <a:ln xmlns:a="http://schemas.openxmlformats.org/drawingml/2006/main" w="4763">
            <a:solidFill>
              <a:srgbClr val="D99A2B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592785-D194-41A6-B773-9FC363964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9438" y="4067175"/>
            <a:ext cx="552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0.115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90EACFC-EC12-4BA9-B6E4-4085F7467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0254" y="4067175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21.9s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7F89631-8A03-413A-B592-87F7A30ED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1485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F06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B49AADD-8EFB-49E8-95BB-3D8C784CD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86275"/>
            <a:ext cx="400073" cy="0"/>
          </a:xfrm>
          <a:prstGeom xmlns:a="http://schemas.openxmlformats.org/drawingml/2006/main" prst="rect">
            <a:avLst/>
          </a:prstGeom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CAB7022-2E21-40C8-B82E-93C59FF3E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86275"/>
            <a:ext cx="19117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B"/>
          </a:solidFill>
          <a:ln xmlns:a="http://schemas.openxmlformats.org/drawingml/2006/main" w="4763">
            <a:solidFill>
              <a:srgbClr val="D99A2B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05C3F3A-E8B2-417D-BB3A-47F359BC1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73" y="4476750"/>
            <a:ext cx="552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0.118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8EBECE1-1133-43CF-89D5-2B1E6FB4E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3620" y="447675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15.1s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BD285C5-7D7C-472A-8608-0FE6E4163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9244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F07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B033D8B-7F46-48F0-A552-784934E1D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95850"/>
            <a:ext cx="404614" cy="0"/>
          </a:xfrm>
          <a:prstGeom xmlns:a="http://schemas.openxmlformats.org/drawingml/2006/main" prst="rect">
            <a:avLst/>
          </a:prstGeom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DFD2240-26C8-49CC-B365-E2812105A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895850"/>
            <a:ext cx="230116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B"/>
          </a:solidFill>
          <a:ln xmlns:a="http://schemas.openxmlformats.org/drawingml/2006/main" w="4763">
            <a:solidFill>
              <a:srgbClr val="D99A2B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2CDEAE1-4ABE-40F5-8E1B-9325D08D6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4814" y="4886325"/>
            <a:ext cx="552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0.120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07444C0-F0FF-4933-B3EE-F63A9C06A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2566" y="4886325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18.2s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D9B19C8-D3E4-456A-BB08-E396E0A11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62550"/>
            <a:ext cx="400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4763">
            <a:solidFill>
              <a:srgbClr val="2D6CDF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EDD9C92-AEBD-4EA5-87F1-729EA4B05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12445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silhouette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EC8BC07-3171-413E-ADBE-5CFA5DE0D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162550"/>
            <a:ext cx="400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B"/>
          </a:solidFill>
          <a:ln xmlns:a="http://schemas.openxmlformats.org/drawingml/2006/main" w="4763">
            <a:solidFill>
              <a:srgbClr val="D99A2B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E7B4D89-1B49-4128-BA8C-7D309198F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12445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training time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9A1CC1D-A05A-40FB-B8E7-D55D770C7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3337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4763">
            <a:solidFill>
              <a:srgbClr val="101820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70EDB85-2527-4E89-8CC0-FC37CB145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336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101820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最终建议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D8E5C7D-CB01-4051-8F56-547503550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55270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101820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F01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D8CAD01-7D5F-4668-BE59-F8382090E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67050"/>
            <a:ext cx="2571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101820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random + cosine + maxIter=20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F11CC3F-9C37-4729-94F2-F5C844CE3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095750"/>
            <a:ext cx="2571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101820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9E2F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9E2F2"/>
                </a:solidFill>
                <a:latin typeface="Arial"/>
                <a:ea typeface="Arial"/>
                <a:cs typeface="Arial"/>
              </a:rPr>
              <a:t>F03虽然近似轮廓最高，但最大簇占比99.0%、单点簇36个，属于退化聚类；F01在cosine方案中轮廓最高、耗时16.8s、最大簇占比19.7%、无单点簇，更适合问题去重。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E7BBBA5-8FFB-44C4-8080-71FB6690E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067300"/>
            <a:ext cx="2571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101820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EB9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EB9C7"/>
                </a:solidFill>
                <a:latin typeface="Arial"/>
                <a:ea typeface="Arial"/>
                <a:cs typeface="Arial"/>
              </a:rPr>
              <a:t>script best: k-means||/euclidean/i20/s42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B61AC4E-7D60-4947-A310-C24B4D64F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7225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F7F5EF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Source: HDFS experiment_results and best_config</a:t>
            </a:r>
          </a:p>
        </p:txBody>
      </p:sp>
    </p:spTree>
    <p:extLst>
      <p:ext uri="{BB962C8B-B14F-4D97-AF65-F5344CB8AC3E}">
        <p14:creationId xmlns:p14="http://schemas.microsoft.com/office/powerpoint/2010/main" val="202334318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27DB29-5E1B-4876-90DA-7EF0B6A95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F7F5E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F05F34-3352-48A6-ADA7-76E9E00BA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F7F5EF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D6CD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D6CDF"/>
                </a:solidFill>
                <a:latin typeface="Arial"/>
                <a:ea typeface="Arial"/>
                <a:cs typeface="Arial"/>
              </a:rPr>
              <a:t>HANDOFF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82008B-0913-4C46-8598-FA70C4208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7810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F7F5EF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F部分交付的是一套可解释、可复现、可汇总的执行优化结论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6086E9-C564-4876-B248-C73A9D8C0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23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4763">
            <a:solidFill>
              <a:srgbClr val="2D6CD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4875B3-AB7E-45D8-9D6B-E93411701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3143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2C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779B89-5434-4DE9-9B15-91C965E92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3143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4763">
            <a:solidFill>
              <a:srgbClr val="2D6CD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707F76-E3F4-4999-9EB0-9577CC3EB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241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D6CD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D6CDF"/>
                </a:solidFill>
                <a:latin typeface="Arial"/>
                <a:ea typeface="Arial"/>
                <a:cs typeface="Arial"/>
              </a:rPr>
              <a:t>实现原理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EA8042-6EF5-4A82-A76F-59CFBA1BC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95600"/>
            <a:ext cx="2571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K-Means受初始中心、距离表示和收敛轮数影响；Spark 2.0中用L2归一化TF-IDF近似余弦距离。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B46FD3-7F33-487C-AC17-E981CA466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00250"/>
            <a:ext cx="3143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2C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F3ADD5-B25B-4EB4-8542-A2BE3B21C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00250"/>
            <a:ext cx="3143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4763">
            <a:solidFill>
              <a:srgbClr val="2A9D8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E69317-007D-44AD-BED3-7C9058C66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3241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实验结果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3FE475-189D-4D37-AD33-EC9F65468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895600"/>
            <a:ext cx="2571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输出experiment_results、best_config、best_cluster_summary，能直接给AB放入总PPT。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F7B712-7D90-44B7-85D7-2A79B92A3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00250"/>
            <a:ext cx="3143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2C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338F17-F0CE-4F31-9F53-31EDDFA31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00250"/>
            <a:ext cx="3143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5D3F"/>
          </a:solidFill>
          <a:ln xmlns:a="http://schemas.openxmlformats.org/drawingml/2006/main" w="4763">
            <a:solidFill>
              <a:srgbClr val="E35D3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2161BE-1BA3-4D69-A384-983AA48C5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241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35D3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35D3F"/>
                </a:solidFill>
                <a:latin typeface="Arial"/>
                <a:ea typeface="Arial"/>
                <a:cs typeface="Arial"/>
              </a:rPr>
              <a:t>分析口径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F09904-EDC0-430A-A74F-068854C00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95600"/>
            <a:ext cx="2571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不只看单一指标；结合近似轮廓系数、最大簇占比、单点簇数量和训练时间。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EC9B42-E585-4EC0-9117-B6951B982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19650"/>
            <a:ext cx="9906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4763">
            <a:solidFill>
              <a:srgbClr val="E8F0F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3E38B9-A276-4B76-975C-31B31CD4C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292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0">
            <a:solidFill>
              <a:srgbClr val="E8F0FF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D6CD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D6CDF"/>
                </a:solidFill>
                <a:latin typeface="Arial"/>
                <a:ea typeface="Arial"/>
                <a:cs typeface="Arial"/>
              </a:rPr>
              <a:t>给AB的汇总句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3083D5-BDFA-4524-814A-0A19E0A0F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953000"/>
            <a:ext cx="6858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0">
            <a:solidFill>
              <a:srgbClr val="E8F0FF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我们将聚类优化拆成结构层与执行层：F部分证明执行参数会显著影响运行时间和簇分布，因此最终方案采用质量与时间折中的推荐配置。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4513C8-58FC-4C32-9054-6BF0CE4CC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9817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6F3"/>
          </a:solidFill>
          <a:ln xmlns:a="http://schemas.openxmlformats.org/drawingml/2006/main" w="4763">
            <a:solidFill>
              <a:srgbClr val="E8F6F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2FB4FE-4A6C-48C1-9DCA-6E6FA0C5C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029325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6F3"/>
          </a:solidFill>
          <a:ln xmlns:a="http://schemas.openxmlformats.org/drawingml/2006/main" w="0">
            <a:solidFill>
              <a:srgbClr val="E8F6F3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完整实验：7组聚焦对比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AF5B6A-475D-4022-8947-08E719FBA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9817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6"/>
          </a:solidFill>
          <a:ln xmlns:a="http://schemas.openxmlformats.org/drawingml/2006/main" w="4763">
            <a:solidFill>
              <a:srgbClr val="FBEAE6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2FF919-4BD6-48C5-88C3-5C12E4E95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6029325"/>
            <a:ext cx="3276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6"/>
          </a:solidFill>
          <a:ln xmlns:a="http://schemas.openxmlformats.org/drawingml/2006/main" w="0">
            <a:solidFill>
              <a:srgbClr val="FBEAE6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35D3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35D3F"/>
                </a:solidFill>
                <a:latin typeface="Arial"/>
                <a:ea typeface="Arial"/>
                <a:cs typeface="Arial"/>
              </a:rPr>
              <a:t>结果路径：/user/root/output/f_param_optimization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FD54C6-D13B-4F23-B4F7-6C04AA327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7225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F7F5EF"/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Source: F execution optimization deliverables</a:t>
            </a:r>
          </a:p>
        </p:txBody>
      </p:sp>
    </p:spTree>
    <p:extLst>
      <p:ext uri="{BB962C8B-B14F-4D97-AF65-F5344CB8AC3E}">
        <p14:creationId xmlns:p14="http://schemas.microsoft.com/office/powerpoint/2010/main" val="649030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2026-06-04T11:07:31.2100000Z</dcterms:created>
  <dcterms:modified xsi:type="dcterms:W3CDTF">2026-06-04T11:07:31.2100000Z</dcterms:modified>
</coreProperties>
</file>