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筑伟" initials="王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86868"/>
    <a:srgbClr val="ECD4A6"/>
    <a:srgbClr val="F9F9F9"/>
    <a:srgbClr val="F6B940"/>
    <a:srgbClr val="FF7C80"/>
    <a:srgbClr val="0088EE"/>
    <a:srgbClr val="29A3FF"/>
    <a:srgbClr val="0E419C"/>
    <a:srgbClr val="059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8968" autoAdjust="0"/>
  </p:normalViewPr>
  <p:slideViewPr>
    <p:cSldViewPr snapToGrid="0" showGuides="1">
      <p:cViewPr varScale="1">
        <p:scale>
          <a:sx n="81" d="100"/>
          <a:sy n="81" d="100"/>
        </p:scale>
        <p:origin x="54" y="36"/>
      </p:cViewPr>
      <p:guideLst>
        <p:guide orient="horz" pos="2160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78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1401162" y="2591139"/>
            <a:ext cx="9389675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2" name="图片 18" descr="图片包含 户外, 标牌&#10;&#10;已生成极高可信度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5"/>
          <a:stretch>
            <a:fillRect/>
          </a:stretch>
        </p:blipFill>
        <p:spPr>
          <a:xfrm>
            <a:off x="9313515" y="187384"/>
            <a:ext cx="1231041" cy="1233699"/>
          </a:xfrm>
          <a:prstGeom prst="rect">
            <a:avLst/>
          </a:prstGeom>
        </p:spPr>
      </p:pic>
      <p:sp>
        <p:nvSpPr>
          <p:cNvPr id="3" name="矩形 10"/>
          <p:cNvSpPr/>
          <p:nvPr userDrawn="1"/>
        </p:nvSpPr>
        <p:spPr>
          <a:xfrm>
            <a:off x="1" y="653140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13"/>
          <p:cNvSpPr/>
          <p:nvPr userDrawn="1"/>
        </p:nvSpPr>
        <p:spPr>
          <a:xfrm>
            <a:off x="3334873" y="653142"/>
            <a:ext cx="5735796" cy="28737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4" y="503198"/>
            <a:ext cx="1397727" cy="602071"/>
          </a:xfrm>
          <a:prstGeom prst="rect">
            <a:avLst/>
          </a:prstGeom>
        </p:spPr>
      </p:pic>
      <p:sp>
        <p:nvSpPr>
          <p:cNvPr id="6" name="矩形 10"/>
          <p:cNvSpPr/>
          <p:nvPr userDrawn="1"/>
        </p:nvSpPr>
        <p:spPr>
          <a:xfrm>
            <a:off x="10787402" y="630404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578996" y="4428105"/>
            <a:ext cx="5208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/>
              <a:t>Intelligent Networking and Computing Lab</a:t>
            </a:r>
            <a:endParaRPr lang="en-US" altLang="zh-CN" sz="2000" dirty="0"/>
          </a:p>
        </p:txBody>
      </p:sp>
      <p:sp>
        <p:nvSpPr>
          <p:cNvPr id="10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445829" y="5169887"/>
            <a:ext cx="3341573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altLang="zh-CN" dirty="0"/>
              <a:t>Name</a:t>
            </a:r>
            <a:endParaRPr lang="en-US" altLang="zh-CN" dirty="0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8742257" y="5759930"/>
            <a:ext cx="2045144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1401162" y="2591139"/>
            <a:ext cx="9389675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2" name="图片 18" descr="图片包含 户外, 标牌&#10;&#10;已生成极高可信度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5"/>
          <a:stretch>
            <a:fillRect/>
          </a:stretch>
        </p:blipFill>
        <p:spPr>
          <a:xfrm>
            <a:off x="9313515" y="187384"/>
            <a:ext cx="1231041" cy="1233699"/>
          </a:xfrm>
          <a:prstGeom prst="rect">
            <a:avLst/>
          </a:prstGeom>
        </p:spPr>
      </p:pic>
      <p:sp>
        <p:nvSpPr>
          <p:cNvPr id="3" name="矩形 10"/>
          <p:cNvSpPr/>
          <p:nvPr userDrawn="1"/>
        </p:nvSpPr>
        <p:spPr>
          <a:xfrm>
            <a:off x="1" y="653140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13"/>
          <p:cNvSpPr/>
          <p:nvPr userDrawn="1"/>
        </p:nvSpPr>
        <p:spPr>
          <a:xfrm>
            <a:off x="3334873" y="653142"/>
            <a:ext cx="5735796" cy="28737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4" y="503198"/>
            <a:ext cx="1397727" cy="602071"/>
          </a:xfrm>
          <a:prstGeom prst="rect">
            <a:avLst/>
          </a:prstGeom>
        </p:spPr>
      </p:pic>
      <p:sp>
        <p:nvSpPr>
          <p:cNvPr id="6" name="矩形 10"/>
          <p:cNvSpPr/>
          <p:nvPr userDrawn="1"/>
        </p:nvSpPr>
        <p:spPr>
          <a:xfrm>
            <a:off x="10787402" y="630404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445828" y="5205472"/>
            <a:ext cx="3341573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altLang="zh-CN" dirty="0"/>
              <a:t>Name</a:t>
            </a:r>
            <a:endParaRPr lang="en-US" altLang="zh-CN" dirty="0"/>
          </a:p>
        </p:txBody>
      </p:sp>
      <p:sp>
        <p:nvSpPr>
          <p:cNvPr id="11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8742257" y="5759930"/>
            <a:ext cx="2045144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7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952010" y="4340586"/>
            <a:ext cx="5835391" cy="558799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/>
              <a:t>Intelligent Networking and Computing Lab</a:t>
            </a:r>
            <a:endParaRPr lang="en-US" altLang="zh-CN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533901" y="4348761"/>
            <a:ext cx="5253501" cy="558799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复旦智能网络与计算研究中心</a:t>
            </a:r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1401162" y="2591139"/>
            <a:ext cx="9389675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2" name="图片 18" descr="图片包含 户外, 标牌&#10;&#10;已生成极高可信度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5"/>
          <a:stretch>
            <a:fillRect/>
          </a:stretch>
        </p:blipFill>
        <p:spPr>
          <a:xfrm>
            <a:off x="9313515" y="187384"/>
            <a:ext cx="1231041" cy="1233699"/>
          </a:xfrm>
          <a:prstGeom prst="rect">
            <a:avLst/>
          </a:prstGeom>
        </p:spPr>
      </p:pic>
      <p:sp>
        <p:nvSpPr>
          <p:cNvPr id="3" name="矩形 10"/>
          <p:cNvSpPr/>
          <p:nvPr userDrawn="1"/>
        </p:nvSpPr>
        <p:spPr>
          <a:xfrm>
            <a:off x="1" y="653140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13"/>
          <p:cNvSpPr/>
          <p:nvPr userDrawn="1"/>
        </p:nvSpPr>
        <p:spPr>
          <a:xfrm>
            <a:off x="3334873" y="653142"/>
            <a:ext cx="5735796" cy="28737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4" y="503198"/>
            <a:ext cx="1397727" cy="602071"/>
          </a:xfrm>
          <a:prstGeom prst="rect">
            <a:avLst/>
          </a:prstGeom>
        </p:spPr>
      </p:pic>
      <p:sp>
        <p:nvSpPr>
          <p:cNvPr id="6" name="矩形 10"/>
          <p:cNvSpPr/>
          <p:nvPr userDrawn="1"/>
        </p:nvSpPr>
        <p:spPr>
          <a:xfrm>
            <a:off x="10787402" y="630404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505205" y="5169887"/>
            <a:ext cx="3282197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姓名</a:t>
            </a:r>
            <a:endParaRPr lang="en-US" altLang="zh-CN" dirty="0"/>
          </a:p>
        </p:txBody>
      </p:sp>
      <p:sp>
        <p:nvSpPr>
          <p:cNvPr id="10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8742258" y="5680585"/>
            <a:ext cx="2045144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8" descr="图片包含 户外, 标牌&#10;&#10;已生成极高可信度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5"/>
          <a:stretch>
            <a:fillRect/>
          </a:stretch>
        </p:blipFill>
        <p:spPr>
          <a:xfrm>
            <a:off x="9313515" y="187384"/>
            <a:ext cx="1231041" cy="1233699"/>
          </a:xfrm>
          <a:prstGeom prst="rect">
            <a:avLst/>
          </a:prstGeom>
        </p:spPr>
      </p:pic>
      <p:sp>
        <p:nvSpPr>
          <p:cNvPr id="3" name="矩形 10"/>
          <p:cNvSpPr/>
          <p:nvPr userDrawn="1"/>
        </p:nvSpPr>
        <p:spPr>
          <a:xfrm>
            <a:off x="1" y="653140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13"/>
          <p:cNvSpPr/>
          <p:nvPr userDrawn="1"/>
        </p:nvSpPr>
        <p:spPr>
          <a:xfrm>
            <a:off x="3334873" y="653142"/>
            <a:ext cx="5735796" cy="28737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4" y="503198"/>
            <a:ext cx="1397727" cy="602071"/>
          </a:xfrm>
          <a:prstGeom prst="rect">
            <a:avLst/>
          </a:prstGeom>
        </p:spPr>
      </p:pic>
      <p:sp>
        <p:nvSpPr>
          <p:cNvPr id="6" name="矩形 10"/>
          <p:cNvSpPr/>
          <p:nvPr userDrawn="1"/>
        </p:nvSpPr>
        <p:spPr>
          <a:xfrm>
            <a:off x="10787402" y="630404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/>
          </p:nvPr>
        </p:nvSpPr>
        <p:spPr>
          <a:xfrm>
            <a:off x="1401162" y="2591139"/>
            <a:ext cx="9389675" cy="698591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505205" y="5169887"/>
            <a:ext cx="3282197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姓名</a:t>
            </a:r>
            <a:endParaRPr lang="en-US" altLang="zh-CN" dirty="0"/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8742257" y="5771805"/>
            <a:ext cx="2045144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364399" y="4416230"/>
            <a:ext cx="442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/>
              <a:t>复旦智能网络与计算</a:t>
            </a:r>
            <a:r>
              <a:rPr lang="zh-CN" altLang="en-GB" sz="2000" dirty="0"/>
              <a:t>研究中心</a:t>
            </a:r>
            <a:endParaRPr lang="zh-CN" altLang="en-US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19C7-F98B-6E46-8274-3AE869BAC25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3B6C-5C79-E940-89B2-542E02BA13C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509288" y="1226917"/>
            <a:ext cx="11157994" cy="520624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8" descr="图片包含 户外, 标牌&#10;&#10;已生成极高可信度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5"/>
          <a:stretch>
            <a:fillRect/>
          </a:stretch>
        </p:blipFill>
        <p:spPr>
          <a:xfrm>
            <a:off x="9313514" y="5314969"/>
            <a:ext cx="1231041" cy="1233699"/>
          </a:xfrm>
          <a:prstGeom prst="rect">
            <a:avLst/>
          </a:prstGeom>
        </p:spPr>
      </p:pic>
      <p:sp>
        <p:nvSpPr>
          <p:cNvPr id="12" name="矩形 10"/>
          <p:cNvSpPr/>
          <p:nvPr userDrawn="1"/>
        </p:nvSpPr>
        <p:spPr>
          <a:xfrm>
            <a:off x="0" y="5780725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3"/>
          <p:cNvSpPr/>
          <p:nvPr userDrawn="1"/>
        </p:nvSpPr>
        <p:spPr>
          <a:xfrm>
            <a:off x="3334872" y="5780727"/>
            <a:ext cx="5735796" cy="28737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3" y="5630783"/>
            <a:ext cx="1397727" cy="602071"/>
          </a:xfrm>
          <a:prstGeom prst="rect">
            <a:avLst/>
          </a:prstGeom>
        </p:spPr>
      </p:pic>
      <p:sp>
        <p:nvSpPr>
          <p:cNvPr id="22" name="矩形 10"/>
          <p:cNvSpPr/>
          <p:nvPr userDrawn="1"/>
        </p:nvSpPr>
        <p:spPr>
          <a:xfrm>
            <a:off x="10787401" y="5757989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10"/>
          </p:nvPr>
        </p:nvSpPr>
        <p:spPr>
          <a:xfrm>
            <a:off x="509287" y="6544105"/>
            <a:ext cx="1388536" cy="206381"/>
          </a:xfrm>
        </p:spPr>
        <p:txBody>
          <a:bodyPr/>
          <a:lstStyle/>
          <a:p>
            <a:fld id="{F56DC209-EE91-834B-B942-B25B9C2B857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占位符 62"/>
          <p:cNvSpPr>
            <a:spLocks noGrp="1"/>
          </p:cNvSpPr>
          <p:nvPr>
            <p:ph type="body" sz="quarter" idx="20" hasCustomPrompt="1"/>
          </p:nvPr>
        </p:nvSpPr>
        <p:spPr>
          <a:xfrm>
            <a:off x="1397725" y="3407421"/>
            <a:ext cx="938967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Name</a:t>
            </a: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7724" y="1603133"/>
            <a:ext cx="9389675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7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谢  谢！</a:t>
            </a:r>
            <a:endParaRPr lang="en-US" sz="7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文本占位符 62"/>
          <p:cNvSpPr>
            <a:spLocks noGrp="1"/>
          </p:cNvSpPr>
          <p:nvPr>
            <p:ph type="body" sz="quarter" idx="21" hasCustomPrompt="1"/>
          </p:nvPr>
        </p:nvSpPr>
        <p:spPr>
          <a:xfrm>
            <a:off x="1397723" y="3951589"/>
            <a:ext cx="938967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Email</a:t>
            </a:r>
            <a:endParaRPr lang="zh-CN" altLang="en-US" dirty="0"/>
          </a:p>
        </p:txBody>
      </p:sp>
      <p:sp>
        <p:nvSpPr>
          <p:cNvPr id="8" name="文本占位符 62"/>
          <p:cNvSpPr>
            <a:spLocks noGrp="1"/>
          </p:cNvSpPr>
          <p:nvPr>
            <p:ph type="body" sz="quarter" idx="22" hasCustomPrompt="1"/>
          </p:nvPr>
        </p:nvSpPr>
        <p:spPr>
          <a:xfrm>
            <a:off x="1397723" y="2845384"/>
            <a:ext cx="9389674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 algn="ctr"/>
            <a:r>
              <a:rPr lang="zh-CN" altLang="en-US" sz="2000" dirty="0"/>
              <a:t>复旦智能网络与计算研究中心</a:t>
            </a:r>
            <a:endParaRPr lang="zh-CN" altLang="en-US" sz="2000" dirty="0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532961" y="6542391"/>
            <a:ext cx="1134319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8" descr="图片包含 户外, 标牌&#10;&#10;已生成极高可信度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5"/>
          <a:stretch>
            <a:fillRect/>
          </a:stretch>
        </p:blipFill>
        <p:spPr>
          <a:xfrm>
            <a:off x="9313514" y="5314969"/>
            <a:ext cx="1231041" cy="1233699"/>
          </a:xfrm>
          <a:prstGeom prst="rect">
            <a:avLst/>
          </a:prstGeom>
        </p:spPr>
      </p:pic>
      <p:sp>
        <p:nvSpPr>
          <p:cNvPr id="12" name="矩形 10"/>
          <p:cNvSpPr/>
          <p:nvPr userDrawn="1"/>
        </p:nvSpPr>
        <p:spPr>
          <a:xfrm>
            <a:off x="0" y="5780725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3"/>
          <p:cNvSpPr/>
          <p:nvPr userDrawn="1"/>
        </p:nvSpPr>
        <p:spPr>
          <a:xfrm>
            <a:off x="3334872" y="5780727"/>
            <a:ext cx="5735796" cy="28737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3" y="5630783"/>
            <a:ext cx="1397727" cy="602071"/>
          </a:xfrm>
          <a:prstGeom prst="rect">
            <a:avLst/>
          </a:prstGeom>
        </p:spPr>
      </p:pic>
      <p:sp>
        <p:nvSpPr>
          <p:cNvPr id="22" name="矩形 10"/>
          <p:cNvSpPr/>
          <p:nvPr userDrawn="1"/>
        </p:nvSpPr>
        <p:spPr>
          <a:xfrm>
            <a:off x="10787401" y="5757989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10"/>
          </p:nvPr>
        </p:nvSpPr>
        <p:spPr>
          <a:xfrm>
            <a:off x="509287" y="6544105"/>
            <a:ext cx="1388536" cy="206381"/>
          </a:xfrm>
        </p:spPr>
        <p:txBody>
          <a:bodyPr/>
          <a:lstStyle/>
          <a:p>
            <a:fld id="{085240C9-1104-9640-B51B-9A0EBDB2510A}" type="datetime1">
              <a:rPr lang="zh-CN" altLang="en-US" smtClean="0"/>
            </a:fld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397725" y="2803650"/>
            <a:ext cx="9135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2000" dirty="0"/>
              <a:t>复旦智能网络与计算研究中心</a:t>
            </a:r>
            <a:endParaRPr lang="zh-CN" altLang="en-US" sz="2000" dirty="0"/>
          </a:p>
        </p:txBody>
      </p:sp>
      <p:sp>
        <p:nvSpPr>
          <p:cNvPr id="5" name="文本占位符 62"/>
          <p:cNvSpPr>
            <a:spLocks noGrp="1"/>
          </p:cNvSpPr>
          <p:nvPr>
            <p:ph type="body" sz="quarter" idx="20" hasCustomPrompt="1"/>
          </p:nvPr>
        </p:nvSpPr>
        <p:spPr>
          <a:xfrm>
            <a:off x="1397725" y="3395546"/>
            <a:ext cx="938967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Name</a:t>
            </a: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7724" y="1603133"/>
            <a:ext cx="9389675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7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谢  谢！</a:t>
            </a:r>
            <a:endParaRPr lang="en-US" sz="7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文本占位符 62"/>
          <p:cNvSpPr>
            <a:spLocks noGrp="1"/>
          </p:cNvSpPr>
          <p:nvPr>
            <p:ph type="body" sz="quarter" idx="21" hasCustomPrompt="1"/>
          </p:nvPr>
        </p:nvSpPr>
        <p:spPr>
          <a:xfrm>
            <a:off x="1397723" y="3951589"/>
            <a:ext cx="938967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Email</a:t>
            </a:r>
            <a:endParaRPr lang="zh-CN" altLang="en-US" dirty="0"/>
          </a:p>
        </p:txBody>
      </p:sp>
      <p:sp>
        <p:nvSpPr>
          <p:cNvPr id="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532961" y="6542391"/>
            <a:ext cx="1134319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8" descr="图片包含 户外, 标牌&#10;&#10;已生成极高可信度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5"/>
          <a:stretch>
            <a:fillRect/>
          </a:stretch>
        </p:blipFill>
        <p:spPr>
          <a:xfrm>
            <a:off x="9313514" y="5314969"/>
            <a:ext cx="1231041" cy="1233699"/>
          </a:xfrm>
          <a:prstGeom prst="rect">
            <a:avLst/>
          </a:prstGeom>
        </p:spPr>
      </p:pic>
      <p:sp>
        <p:nvSpPr>
          <p:cNvPr id="6" name="矩形 13"/>
          <p:cNvSpPr/>
          <p:nvPr userDrawn="1"/>
        </p:nvSpPr>
        <p:spPr>
          <a:xfrm>
            <a:off x="3334872" y="5780727"/>
            <a:ext cx="5735796" cy="28737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3" y="5630783"/>
            <a:ext cx="1397727" cy="602071"/>
          </a:xfrm>
          <a:prstGeom prst="rect">
            <a:avLst/>
          </a:prstGeom>
        </p:spPr>
      </p:pic>
      <p:sp>
        <p:nvSpPr>
          <p:cNvPr id="8" name="矩形 10"/>
          <p:cNvSpPr/>
          <p:nvPr userDrawn="1"/>
        </p:nvSpPr>
        <p:spPr>
          <a:xfrm>
            <a:off x="10787401" y="5757989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0"/>
          <p:cNvSpPr/>
          <p:nvPr userDrawn="1"/>
        </p:nvSpPr>
        <p:spPr>
          <a:xfrm>
            <a:off x="0" y="5780725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/>
          <p:nvPr userDrawn="1"/>
        </p:nvSpPr>
        <p:spPr>
          <a:xfrm>
            <a:off x="1397726" y="1595896"/>
            <a:ext cx="9389675" cy="865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！</a:t>
            </a:r>
            <a:endParaRPr lang="zh-CN" altLang="en-US" dirty="0"/>
          </a:p>
        </p:txBody>
      </p:sp>
      <p:sp>
        <p:nvSpPr>
          <p:cNvPr id="17" name="文本占位符 62"/>
          <p:cNvSpPr>
            <a:spLocks noGrp="1"/>
          </p:cNvSpPr>
          <p:nvPr>
            <p:ph type="body" sz="quarter" idx="20" hasCustomPrompt="1"/>
          </p:nvPr>
        </p:nvSpPr>
        <p:spPr>
          <a:xfrm>
            <a:off x="1411897" y="3361186"/>
            <a:ext cx="938967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Name</a:t>
            </a:r>
            <a:endParaRPr lang="zh-CN" altLang="en-US" dirty="0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10"/>
          </p:nvPr>
        </p:nvSpPr>
        <p:spPr>
          <a:xfrm>
            <a:off x="509287" y="6544105"/>
            <a:ext cx="1388536" cy="20638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4E731B6-81BF-C04D-8C51-9EF7571E1791}" type="datetime1">
              <a:rPr lang="zh-CN" altLang="en-US" smtClean="0"/>
            </a:fld>
            <a:endParaRPr lang="zh-CN" altLang="en-US"/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532961" y="6542391"/>
            <a:ext cx="1134319" cy="20638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24" name="文本占位符 62"/>
          <p:cNvSpPr>
            <a:spLocks noGrp="1"/>
          </p:cNvSpPr>
          <p:nvPr>
            <p:ph type="body" sz="quarter" idx="21" hasCustomPrompt="1"/>
          </p:nvPr>
        </p:nvSpPr>
        <p:spPr>
          <a:xfrm>
            <a:off x="1411897" y="3951356"/>
            <a:ext cx="938967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Email</a:t>
            </a:r>
            <a:endParaRPr lang="zh-CN" altLang="en-US" dirty="0"/>
          </a:p>
        </p:txBody>
      </p:sp>
      <p:sp>
        <p:nvSpPr>
          <p:cNvPr id="25" name="文本占位符 62"/>
          <p:cNvSpPr>
            <a:spLocks noGrp="1"/>
          </p:cNvSpPr>
          <p:nvPr>
            <p:ph type="body" sz="quarter" idx="22" hasCustomPrompt="1"/>
          </p:nvPr>
        </p:nvSpPr>
        <p:spPr>
          <a:xfrm>
            <a:off x="1397726" y="2758054"/>
            <a:ext cx="913523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 algn="ctr"/>
            <a:r>
              <a:rPr lang="en-US" altLang="zh-CN" sz="2000" dirty="0"/>
              <a:t>Intelligent Networking and Computing </a:t>
            </a:r>
            <a:r>
              <a:rPr lang="en-GB" altLang="zh-CN" sz="2000" dirty="0"/>
              <a:t>Lab</a:t>
            </a:r>
            <a:endParaRPr lang="en-US" altLang="zh-CN" sz="2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8" descr="图片包含 户外, 标牌&#10;&#10;已生成极高可信度的说明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95"/>
          <a:stretch>
            <a:fillRect/>
          </a:stretch>
        </p:blipFill>
        <p:spPr>
          <a:xfrm>
            <a:off x="9313514" y="5314969"/>
            <a:ext cx="1231041" cy="1233699"/>
          </a:xfrm>
          <a:prstGeom prst="rect">
            <a:avLst/>
          </a:prstGeom>
        </p:spPr>
      </p:pic>
      <p:sp>
        <p:nvSpPr>
          <p:cNvPr id="6" name="矩形 13"/>
          <p:cNvSpPr/>
          <p:nvPr userDrawn="1"/>
        </p:nvSpPr>
        <p:spPr>
          <a:xfrm>
            <a:off x="3334872" y="5780727"/>
            <a:ext cx="5735796" cy="28737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443" y="5630783"/>
            <a:ext cx="1397727" cy="602071"/>
          </a:xfrm>
          <a:prstGeom prst="rect">
            <a:avLst/>
          </a:prstGeom>
        </p:spPr>
      </p:pic>
      <p:sp>
        <p:nvSpPr>
          <p:cNvPr id="8" name="矩形 10"/>
          <p:cNvSpPr/>
          <p:nvPr userDrawn="1"/>
        </p:nvSpPr>
        <p:spPr>
          <a:xfrm>
            <a:off x="10787401" y="5757989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10"/>
          <p:cNvSpPr/>
          <p:nvPr userDrawn="1"/>
        </p:nvSpPr>
        <p:spPr>
          <a:xfrm>
            <a:off x="0" y="5780725"/>
            <a:ext cx="1397726" cy="287382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/>
          <p:nvPr userDrawn="1"/>
        </p:nvSpPr>
        <p:spPr>
          <a:xfrm>
            <a:off x="1397726" y="1595896"/>
            <a:ext cx="9389675" cy="8651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！</a:t>
            </a:r>
            <a:endParaRPr lang="zh-CN" altLang="en-US" dirty="0"/>
          </a:p>
        </p:txBody>
      </p:sp>
      <p:sp>
        <p:nvSpPr>
          <p:cNvPr id="17" name="文本占位符 62"/>
          <p:cNvSpPr>
            <a:spLocks noGrp="1"/>
          </p:cNvSpPr>
          <p:nvPr>
            <p:ph type="body" sz="quarter" idx="20" hasCustomPrompt="1"/>
          </p:nvPr>
        </p:nvSpPr>
        <p:spPr>
          <a:xfrm>
            <a:off x="1411897" y="3361186"/>
            <a:ext cx="938967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Name</a:t>
            </a:r>
            <a:endParaRPr lang="zh-CN" altLang="en-US" dirty="0"/>
          </a:p>
        </p:txBody>
      </p:sp>
      <p:sp>
        <p:nvSpPr>
          <p:cNvPr id="19" name="日期占位符 2"/>
          <p:cNvSpPr>
            <a:spLocks noGrp="1"/>
          </p:cNvSpPr>
          <p:nvPr>
            <p:ph type="dt" sz="half" idx="10"/>
          </p:nvPr>
        </p:nvSpPr>
        <p:spPr>
          <a:xfrm>
            <a:off x="509287" y="6544105"/>
            <a:ext cx="1388536" cy="20638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BDCE44A3-F2B1-5E46-83CD-252019F48CA7}" type="datetime1">
              <a:rPr lang="zh-CN" altLang="en-US" smtClean="0"/>
            </a:fld>
            <a:endParaRPr lang="zh-CN" altLang="en-US"/>
          </a:p>
        </p:txBody>
      </p:sp>
      <p:sp>
        <p:nvSpPr>
          <p:cNvPr id="2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532961" y="6542391"/>
            <a:ext cx="1134319" cy="20638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23" name="TextBox 22"/>
          <p:cNvSpPr txBox="1"/>
          <p:nvPr userDrawn="1"/>
        </p:nvSpPr>
        <p:spPr>
          <a:xfrm>
            <a:off x="1397727" y="2708825"/>
            <a:ext cx="91468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200" dirty="0"/>
              <a:t>Intelligent Networking and Computing Lab</a:t>
            </a:r>
            <a:endParaRPr lang="en-US" altLang="zh-CN" sz="2200" dirty="0"/>
          </a:p>
        </p:txBody>
      </p:sp>
      <p:sp>
        <p:nvSpPr>
          <p:cNvPr id="24" name="文本占位符 62"/>
          <p:cNvSpPr>
            <a:spLocks noGrp="1"/>
          </p:cNvSpPr>
          <p:nvPr>
            <p:ph type="body" sz="quarter" idx="21" hasCustomPrompt="1"/>
          </p:nvPr>
        </p:nvSpPr>
        <p:spPr>
          <a:xfrm>
            <a:off x="1411897" y="3951356"/>
            <a:ext cx="9389675" cy="39999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20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Email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1EBF1-B891-9444-BB0A-F54F250F7C8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ṡḻîdê"/>
          <p:cNvSpPr/>
          <p:nvPr userDrawn="1"/>
        </p:nvSpPr>
        <p:spPr>
          <a:xfrm>
            <a:off x="0" y="0"/>
            <a:ext cx="12192000" cy="3946967"/>
          </a:xfrm>
          <a:prstGeom prst="rect">
            <a:avLst/>
          </a:prstGeom>
          <a:solidFill>
            <a:srgbClr val="0E419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9" name="图片 16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176" y="15232"/>
            <a:ext cx="1429161" cy="1426616"/>
          </a:xfrm>
          <a:prstGeom prst="rect">
            <a:avLst/>
          </a:prstGeom>
        </p:spPr>
      </p:pic>
      <p:sp>
        <p:nvSpPr>
          <p:cNvPr id="10" name="iš1íḍè"/>
          <p:cNvSpPr/>
          <p:nvPr userDrawn="1"/>
        </p:nvSpPr>
        <p:spPr>
          <a:xfrm>
            <a:off x="-1" y="1028700"/>
            <a:ext cx="11933499" cy="58293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63500" dir="39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1" i="0" u="none" strike="noStrike" kern="1200" cap="none" spc="30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9287" y="1"/>
            <a:ext cx="11157994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9288" y="1226917"/>
            <a:ext cx="11157994" cy="5206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09287" y="654410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EA1EBF1-B891-9444-BB0A-F54F250F7C8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32961" y="6542391"/>
            <a:ext cx="1134319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6" Type="http://schemas.openxmlformats.org/officeDocument/2006/relationships/slideLayout" Target="../slideLayouts/slideLayout6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E419C"/>
                </a:solidFill>
              </a:defRPr>
            </a:pPr>
            <a:r>
              <a:t>StackOverflow Oracle数据库问题文本聚类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</a:defRPr>
            </a:pPr>
            <a:r>
              <a:t>特征提取优化任务汇报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65760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64种参数组合网格搜索 | TF-IDF参数调优 | 定制停用词构建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</a:rPr>
              <a:t>汇报大纲</a:t>
            </a:r>
            <a:endParaRPr sz="360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1371600" y="2286000"/>
            <a:ext cx="274320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>
            <p:custDataLst>
              <p:tags r:id="rId2"/>
            </p:custDataLst>
          </p:nvPr>
        </p:nvSpPr>
        <p:spPr>
          <a:xfrm>
            <a:off x="2377440" y="2560320"/>
            <a:ext cx="731520" cy="731520"/>
          </a:xfrm>
          <a:prstGeom prst="ellipse">
            <a:avLst/>
          </a:prstGeom>
          <a:solidFill>
            <a:srgbClr val="27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554480" y="3566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419C"/>
                </a:solidFill>
              </a:defRPr>
            </a:pPr>
            <a:r>
              <a:t>一、实现原理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554480" y="4206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优化方案与思路</a:t>
            </a:r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4572000" y="2286000"/>
            <a:ext cx="274320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6"/>
            </p:custDataLst>
          </p:nvPr>
        </p:nvSpPr>
        <p:spPr>
          <a:xfrm>
            <a:off x="5577840" y="256032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4754880" y="3566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419C"/>
                </a:solidFill>
              </a:defRPr>
            </a:pPr>
            <a:r>
              <a:t>二、实验结果</a:t>
            </a: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4754880" y="42062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64种参数组合对比实验</a:t>
            </a:r>
          </a:p>
        </p:txBody>
      </p:sp>
      <p:sp>
        <p:nvSpPr>
          <p:cNvPr id="13" name="Rectangle 12"/>
          <p:cNvSpPr/>
          <p:nvPr>
            <p:custDataLst>
              <p:tags r:id="rId9"/>
            </p:custDataLst>
          </p:nvPr>
        </p:nvSpPr>
        <p:spPr>
          <a:xfrm>
            <a:off x="7772400" y="2286000"/>
            <a:ext cx="274320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>
            <p:custDataLst>
              <p:tags r:id="rId10"/>
            </p:custDataLst>
          </p:nvPr>
        </p:nvSpPr>
        <p:spPr>
          <a:xfrm>
            <a:off x="8778240" y="2560320"/>
            <a:ext cx="731520" cy="7315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7955280" y="3566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E419C"/>
                </a:solidFill>
              </a:defRPr>
            </a:pPr>
            <a:r>
              <a:t>三、分析</a:t>
            </a: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7955280" y="4206240"/>
            <a:ext cx="245046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</a:defRPr>
            </a:pPr>
            <a:r>
              <a:t>实验结果分析与基准对比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  <a:cs typeface="+mj-ea"/>
              </a:rPr>
              <a:t>一、实现原理 — 优化方向总览</a:t>
            </a:r>
            <a:endParaRPr sz="3600">
              <a:solidFill>
                <a:schemeClr val="bg1"/>
              </a:solidFill>
              <a:latin typeface="+mj-ea"/>
              <a:cs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731520"/>
          </a:xfrm>
          <a:prstGeom prst="rect">
            <a:avLst/>
          </a:prstGeom>
          <a:solidFill>
            <a:srgbClr val="27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TF-IDF参数调整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vocabSize: 3000~10000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minDF: 3~10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maxDF: 0.8~0.95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4×4×4 = 64种组合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38328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383280" cy="731520"/>
          </a:xfrm>
          <a:prstGeom prst="rect">
            <a:avLst/>
          </a:prstGeom>
          <a:solidFill>
            <a:srgbClr val="27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定制停用词列表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标准英语停用词 ~30个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StackOverflow高频词 ~50个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Oracle无意义词 ~40个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技术文档噪音词 ~30个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总计 150+ 停用词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383280" cy="4754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383280" cy="731520"/>
          </a:xfrm>
          <a:prstGeom prst="rect">
            <a:avLst/>
          </a:prstGeom>
          <a:solidFill>
            <a:srgbClr val="27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参数网格搜索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834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系统化参数空间遍历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64种组合完整测试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轮廓系数评估聚类质量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最佳参数组合推荐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  <a:cs typeface="+mj-ea"/>
              </a:rPr>
              <a:t>二、实验结果 — 64种参数组合设计</a:t>
            </a:r>
            <a:endParaRPr sz="3600">
              <a:solidFill>
                <a:schemeClr val="bg1"/>
              </a:solidFill>
              <a:latin typeface="+mj-ea"/>
              <a:cs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419C"/>
                </a:solidFill>
              </a:defRPr>
            </a:pPr>
            <a:r>
              <a:t>参数空间矩阵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solidFill>
            <a:srgbClr val="27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vocabSize (4个值)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414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3000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242316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4414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5000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423160"/>
            <a:ext cx="7315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4414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42316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10000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08960"/>
            <a:ext cx="3200400" cy="457200"/>
          </a:xfrm>
          <a:prstGeom prst="rect">
            <a:avLst/>
          </a:prstGeom>
          <a:solidFill>
            <a:srgbClr val="27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minDF (4个值)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21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70332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3721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703320"/>
            <a:ext cx="7315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3721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70332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3721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3200400" cy="457200"/>
          </a:xfrm>
          <a:prstGeom prst="rect">
            <a:avLst/>
          </a:prstGeom>
          <a:solidFill>
            <a:srgbClr val="279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07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maxDF (4个值)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98348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017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0.8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498348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0017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0.85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4983480"/>
            <a:ext cx="7315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50017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4983480"/>
            <a:ext cx="7315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50017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</a:defRPr>
            </a:pPr>
            <a:r>
              <a:t>0.95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1188720"/>
            <a:ext cx="658368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12801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419C"/>
                </a:solidFill>
              </a:defRPr>
            </a:pPr>
            <a:r>
              <a:t>网格搜索设计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1920240"/>
            <a:ext cx="6217920" cy="397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总组合数 = 4 × 4 × 4 = 64种参数组合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网格搜索流程: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1. 生成64种参数组合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2. 遍历每种组合 → 构建Pipeline → 训练 → K-Means聚类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3. 计算轮廓系数，记录结果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4. 分析所有结果，找出最佳参数组合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5. 使用最佳参数重新聚类，保存最终结果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两阶段策略: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第一阶段: 采样数据快速筛选64种组合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第二阶段: 全量数据验证最佳参数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  <a:cs typeface="+mj-ea"/>
              </a:rPr>
              <a:t>二、实验结果 — 64种组合四梯队结果</a:t>
            </a:r>
            <a:endParaRPr sz="3600">
              <a:solidFill>
                <a:schemeClr val="bg1"/>
              </a:solidFill>
              <a:latin typeface="+mj-ea"/>
              <a:cs typeface="+mj-ea"/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459105" y="1816100"/>
            <a:ext cx="2688114" cy="43327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459105" y="1816100"/>
            <a:ext cx="2688114" cy="637857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550227" y="1907223"/>
            <a:ext cx="250586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第一梯队 · 最佳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595789" y="2636203"/>
            <a:ext cx="2414746" cy="1588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7000/7/0.9 → 轮廓系数 -2.10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10000/10/0.85 → 轮廓系数 -2.08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优于基准方案，改善2.3%~3.2%</a:t>
            </a:r>
          </a:p>
        </p:txBody>
      </p:sp>
      <p:sp>
        <p:nvSpPr>
          <p:cNvPr id="9" name="Rectangle 8"/>
          <p:cNvSpPr/>
          <p:nvPr>
            <p:custDataLst>
              <p:tags r:id="rId5"/>
            </p:custDataLst>
          </p:nvPr>
        </p:nvSpPr>
        <p:spPr>
          <a:xfrm>
            <a:off x="3329464" y="1816100"/>
            <a:ext cx="2688114" cy="43321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3329464" y="1816100"/>
            <a:ext cx="2688114" cy="637857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3420586" y="1907223"/>
            <a:ext cx="250586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第二梯队 · 良好</a:t>
            </a: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3466148" y="2636203"/>
            <a:ext cx="2414746" cy="1260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5000/5/0.9 → -2.15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7000/5/0.85 → -2.12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5000/7/0.95 → -2.13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与基准相当或略有改善</a:t>
            </a:r>
          </a:p>
        </p:txBody>
      </p:sp>
      <p:sp>
        <p:nvSpPr>
          <p:cNvPr id="13" name="Rectangle 12"/>
          <p:cNvSpPr/>
          <p:nvPr>
            <p:custDataLst>
              <p:tags r:id="rId9"/>
            </p:custDataLst>
          </p:nvPr>
        </p:nvSpPr>
        <p:spPr>
          <a:xfrm>
            <a:off x="6199823" y="1816100"/>
            <a:ext cx="2688114" cy="43321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6199823" y="1816100"/>
            <a:ext cx="2688114" cy="6378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6290945" y="1907223"/>
            <a:ext cx="250586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第三梯队 · 中等</a:t>
            </a: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336506" y="2636203"/>
            <a:ext cx="2414746" cy="1260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3000/3/0.8 → -2.20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10000/3/0.95 → -2.18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3000/10/0.95 → -2.22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劣于基准方案</a:t>
            </a:r>
          </a:p>
        </p:txBody>
      </p:sp>
      <p:sp>
        <p:nvSpPr>
          <p:cNvPr id="17" name="Rectangle 16"/>
          <p:cNvSpPr/>
          <p:nvPr>
            <p:custDataLst>
              <p:tags r:id="rId13"/>
            </p:custDataLst>
          </p:nvPr>
        </p:nvSpPr>
        <p:spPr>
          <a:xfrm>
            <a:off x="9070181" y="1816100"/>
            <a:ext cx="2688114" cy="433211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4"/>
            </p:custDataLst>
          </p:nvPr>
        </p:nvSpPr>
        <p:spPr>
          <a:xfrm>
            <a:off x="9070181" y="1816100"/>
            <a:ext cx="2688114" cy="637857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9161304" y="1907223"/>
            <a:ext cx="250586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第四梯队 · 较差</a:t>
            </a:r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9206865" y="2636203"/>
            <a:ext cx="2414746" cy="94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3000/3/0.95 → -2.25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10000/3/0.8 → -2.23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劣于基准，恶化3.7%~4.7%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  <a:cs typeface="+mj-ea"/>
              </a:rPr>
              <a:t>二、实验结果 — 参数维度影响分析</a:t>
            </a:r>
            <a:endParaRPr sz="3600">
              <a:solidFill>
                <a:schemeClr val="bg1"/>
              </a:solidFill>
              <a:latin typeface="+mj-ea"/>
              <a:cs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544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419C"/>
                </a:solidFill>
              </a:defRPr>
            </a:pPr>
            <a:r>
              <a:t>vocabSize维度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92960"/>
          <a:ext cx="3566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vocabSize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平均轮廓系数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效果分析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3000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-2.22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特征表达能力不足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基准大小，效果中等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7000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-2.12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效果良好（最优）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边际收益递减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97680" y="1544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419C"/>
                </a:solidFill>
              </a:defRPr>
            </a:pPr>
            <a:r>
              <a:t>minDF维度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0" y="2092960"/>
          <a:ext cx="3566160" cy="204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463040"/>
              </a:tblGrid>
              <a:tr h="4089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minDF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平均轮廓系数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效果分析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-2.20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噪音过多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基准值，效果中等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-2.12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效果良好（最优）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边际收益递减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38160" y="1544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E419C"/>
                </a:solidFill>
              </a:defRPr>
            </a:pPr>
            <a:r>
              <a:t>maxDF维度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138160" y="2092960"/>
          <a:ext cx="3566160" cy="2044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463040"/>
              </a:tblGrid>
              <a:tr h="37147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maxDF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平均轮廓系数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效果分析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-2.18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过滤过严，可能丢失有用词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较严格，效果良好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</a:defRPr>
                      </a:pPr>
                      <a:r>
                        <a:t>-2.12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效果最佳（最优）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-2.20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3333"/>
                          </a:solidFill>
                        </a:defRPr>
                      </a:pPr>
                      <a:r>
                        <a:t>过滤过松，噪音过多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0370" y="4820285"/>
            <a:ext cx="1124712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250" y="4911725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419C"/>
                </a:solidFill>
              </a:defRPr>
            </a:pPr>
            <a:r>
              <a:t>边际收益递减规律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250" y="5368925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vocabSize: 3000→7000改善0.10，7000→10000仅改善0.03  |  minDF: 3→7改善0.08，7→10仅改善0.03  |  maxDF: 0.95→0.9改善0.08，0.9→0.8改善0.06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  <a:cs typeface="+mj-ea"/>
              </a:rPr>
              <a:t>二、实验结果 — 最佳参数组合推荐</a:t>
            </a:r>
            <a:endParaRPr sz="3600">
              <a:solidFill>
                <a:schemeClr val="bg1"/>
              </a:solidFill>
              <a:latin typeface="+mj-ea"/>
              <a:cs typeface="+mj-e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32720" cy="1475105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90805" cy="147447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61820"/>
            <a:ext cx="9892030" cy="984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600" b="1">
                <a:solidFill>
                  <a:srgbClr val="2E7D32"/>
                </a:solidFill>
              </a:defRPr>
            </a:pPr>
            <a:r>
              <a:t>最佳参数组合:  vocabSize = 7000  |  minDF = 7  |  maxDF = 0.9</a:t>
            </a:r>
          </a:p>
        </p:txBody>
      </p:sp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914400" y="3568065"/>
            <a:ext cx="237744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1005840" y="3705225"/>
            <a:ext cx="21945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轮廓系数</a:t>
            </a: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005840" y="411670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-2.10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005840" y="4848225"/>
            <a:ext cx="2194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相比基准-2.15改善0.05</a:t>
            </a:r>
            <a:br/>
            <a:r>
              <a:t>改善幅度约2.3%</a:t>
            </a: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3566160" y="3568065"/>
            <a:ext cx="237744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3657600" y="3705225"/>
            <a:ext cx="21945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运行时间</a:t>
            </a: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3657600" y="411670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约4.3小时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3657600" y="4848225"/>
            <a:ext cx="2194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相比基准4.2小时增加0.1小时</a:t>
            </a:r>
            <a:br/>
            <a:r>
              <a:t>增加幅度约2.4%</a:t>
            </a:r>
          </a:p>
        </p:txBody>
      </p:sp>
      <p:sp>
        <p:nvSpPr>
          <p:cNvPr id="16" name="Rectangle 15"/>
          <p:cNvSpPr/>
          <p:nvPr>
            <p:custDataLst>
              <p:tags r:id="rId9"/>
            </p:custDataLst>
          </p:nvPr>
        </p:nvSpPr>
        <p:spPr>
          <a:xfrm>
            <a:off x="6217920" y="3568065"/>
            <a:ext cx="237744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6309360" y="3705225"/>
            <a:ext cx="21945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最大聚类占比</a:t>
            </a: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6309360" y="411670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约40%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6309360" y="4848225"/>
            <a:ext cx="219456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相比基准46.2%降低6.2个百分点</a:t>
            </a:r>
            <a:br/>
            <a:r>
              <a:t>聚类分布更均衡</a:t>
            </a:r>
          </a:p>
        </p:txBody>
      </p:sp>
      <p:sp>
        <p:nvSpPr>
          <p:cNvPr id="20" name="Rectangle 19"/>
          <p:cNvSpPr/>
          <p:nvPr>
            <p:custDataLst>
              <p:tags r:id="rId13"/>
            </p:custDataLst>
          </p:nvPr>
        </p:nvSpPr>
        <p:spPr>
          <a:xfrm>
            <a:off x="8869680" y="3568065"/>
            <a:ext cx="237744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8961120" y="3705225"/>
            <a:ext cx="219456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</a:defRPr>
            </a:pPr>
            <a:r>
              <a:t>标准差</a:t>
            </a: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8961120" y="411670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</a:defRPr>
            </a:pPr>
            <a:r>
              <a:t>约8500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8961120" y="4848225"/>
            <a:ext cx="2194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t>相比基准9887.1降低13.9%</a:t>
            </a:r>
            <a:br/>
            <a:r>
              <a:t>分布更紧凑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  <a:cs typeface="+mj-ea"/>
              </a:rPr>
              <a:t>三、分析 — 参数组合协同效应分析</a:t>
            </a:r>
            <a:endParaRPr sz="3600">
              <a:solidFill>
                <a:schemeClr val="bg1"/>
              </a:solidFill>
              <a:latin typeface="+mj-ea"/>
              <a:cs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37795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419C"/>
                </a:solidFill>
              </a:defRPr>
            </a:pPr>
            <a:r>
              <a:t>vocabSize、minDF、maxDF三个参数之间存在显著协同效应</a:t>
            </a:r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731520" y="2183765"/>
            <a:ext cx="3383280" cy="3982085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731520" y="2183765"/>
            <a:ext cx="338328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22960" y="2229485"/>
            <a:ext cx="32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最优协同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914400" y="2915285"/>
            <a:ext cx="30175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参数: 7000 / 7 / 0.9</a:t>
            </a: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914400" y="3463925"/>
            <a:ext cx="3017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</a:defRPr>
            </a:pPr>
            <a:r>
              <a:t>轮廓系数: -2.10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1005840" y="4195445"/>
            <a:ext cx="2834640" cy="120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333333"/>
                </a:solidFill>
              </a:defRPr>
            </a:pPr>
            <a:r>
              <a:t>vocabSize增大增强表达能力</a:t>
            </a:r>
            <a:br/>
            <a:r>
              <a:t>minDF增大减少噪音</a:t>
            </a:r>
            <a:br/>
            <a:r>
              <a:t>maxDF降低过滤高频词</a:t>
            </a:r>
            <a:br/>
            <a:r>
              <a:t>三维度协同，效果最优</a:t>
            </a: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4480560" y="2183765"/>
            <a:ext cx="3383280" cy="3982085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8"/>
            </p:custDataLst>
          </p:nvPr>
        </p:nvSpPr>
        <p:spPr>
          <a:xfrm>
            <a:off x="4480559" y="2183765"/>
            <a:ext cx="338328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571999" y="2229485"/>
            <a:ext cx="32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协同不足</a:t>
            </a: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4663439" y="2915285"/>
            <a:ext cx="30175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参数: 10000 / 3 / 0.95</a:t>
            </a: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4663439" y="3463925"/>
            <a:ext cx="3017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0C0"/>
                </a:solidFill>
              </a:defRPr>
            </a:pPr>
            <a:r>
              <a:t>轮廓系数: -2.18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4754879" y="4195445"/>
            <a:ext cx="2834640" cy="120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333333"/>
                </a:solidFill>
              </a:defRPr>
            </a:pPr>
            <a:r>
              <a:t>vocabSize增大增强表达能力</a:t>
            </a:r>
            <a:br/>
            <a:r>
              <a:t>但minDF过低导致噪音过多</a:t>
            </a:r>
            <a:br/>
            <a:r>
              <a:t>maxDF过宽松过滤不足</a:t>
            </a:r>
            <a:br/>
            <a:r>
              <a:t>特征提升被噪音抵消</a:t>
            </a:r>
          </a:p>
        </p:txBody>
      </p:sp>
      <p:sp>
        <p:nvSpPr>
          <p:cNvPr id="18" name="Rectangle 17"/>
          <p:cNvSpPr/>
          <p:nvPr>
            <p:custDataLst>
              <p:tags r:id="rId13"/>
            </p:custDataLst>
          </p:nvPr>
        </p:nvSpPr>
        <p:spPr>
          <a:xfrm>
            <a:off x="8229600" y="2183765"/>
            <a:ext cx="3383280" cy="3982085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8229600" y="2183765"/>
            <a:ext cx="3383280" cy="548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8321040" y="2229485"/>
            <a:ext cx="32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协同矛盾</a:t>
            </a: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8412480" y="2915285"/>
            <a:ext cx="30175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参数: 3000 / 10 / 0.95</a:t>
            </a:r>
          </a:p>
        </p:txBody>
      </p:sp>
      <p:sp>
        <p:nvSpPr>
          <p:cNvPr id="22" name="TextBox 21"/>
          <p:cNvSpPr txBox="1"/>
          <p:nvPr>
            <p:custDataLst>
              <p:tags r:id="rId17"/>
            </p:custDataLst>
          </p:nvPr>
        </p:nvSpPr>
        <p:spPr>
          <a:xfrm>
            <a:off x="8412480" y="3463925"/>
            <a:ext cx="30175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</a:defRPr>
            </a:pPr>
            <a:r>
              <a:t>轮廓系数: -2.22</a:t>
            </a:r>
          </a:p>
        </p:txBody>
      </p:sp>
      <p:sp>
        <p:nvSpPr>
          <p:cNvPr id="23" name="TextBox 22"/>
          <p:cNvSpPr txBox="1"/>
          <p:nvPr>
            <p:custDataLst>
              <p:tags r:id="rId18"/>
            </p:custDataLst>
          </p:nvPr>
        </p:nvSpPr>
        <p:spPr>
          <a:xfrm>
            <a:off x="8503920" y="4195445"/>
            <a:ext cx="2834640" cy="120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333333"/>
                </a:solidFill>
              </a:defRPr>
            </a:pPr>
            <a:r>
              <a:t>vocabSize过小表达能力不足</a:t>
            </a:r>
            <a:br/>
            <a:r>
              <a:t>minDF过高过滤有用词</a:t>
            </a:r>
            <a:br/>
            <a:r>
              <a:t>maxDF过宽松噪音过多</a:t>
            </a:r>
            <a:br/>
            <a:r>
              <a:t>参数配置矛盾，效果最差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  <a:cs typeface="+mj-ea"/>
              </a:rPr>
              <a:t>三、分析 — 与基准方案对比</a:t>
            </a:r>
            <a:endParaRPr sz="3600">
              <a:solidFill>
                <a:schemeClr val="bg1"/>
              </a:solidFill>
              <a:latin typeface="+mj-ea"/>
              <a:cs typeface="+mj-ea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56032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基准方案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最佳参数组合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改善</a:t>
                      </a:r>
                    </a:p>
                  </a:txBody>
                  <a:tcPr>
                    <a:solidFill>
                      <a:srgbClr val="0E419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vocabSize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7000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+40%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minDF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maxDF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新增功能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轮廓系数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-2.15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-2.10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改善0.05 (2.3%)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运行时间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约4.2小时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约4.3小时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+0.1小时 (2.4%)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最大聚类占比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约40%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降低6.2个百分点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9887.1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约8500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2E7D32"/>
                          </a:solidFill>
                        </a:defRPr>
                      </a:pPr>
                      <a:r>
                        <a:t>降低13.9%</a:t>
                      </a:r>
                    </a:p>
                  </a:txBody>
                  <a:tcPr>
                    <a:solidFill>
                      <a:srgbClr val="E8EE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754880"/>
            <a:ext cx="1005840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419C"/>
                </a:solidFill>
              </a:defRPr>
            </a:pPr>
            <a:r>
              <a:t>参数优化贡献度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maxDF (贡献度50%)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30352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从不支持→0.9，有效过滤高频噪音词，轮廓系数改善最显著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235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90B0"/>
                </a:solidFill>
              </a:defRPr>
            </a:pPr>
            <a:r>
              <a:t>vocabSize (贡献度30%)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62355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从5000→7000，增强特征表达能力，但边际收益递减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minDF (贡献度20%)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9436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从5→7，减少噪音，但可能过滤有用词，边际收益递减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70C0"/>
                </a:solidFill>
              </a:defRPr>
            </a:pPr>
            <a:r>
              <a:rPr sz="3600">
                <a:solidFill>
                  <a:schemeClr val="bg1"/>
                </a:solidFill>
                <a:latin typeface="+mj-ea"/>
              </a:rPr>
              <a:t>总结</a:t>
            </a:r>
            <a:endParaRPr sz="360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1353185" y="2009140"/>
            <a:ext cx="256032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353185" y="2054860"/>
            <a:ext cx="25603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64种参数组合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4187825" y="2054860"/>
            <a:ext cx="685800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系统化网格搜索，完整覆盖参数空间</a:t>
            </a: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1353185" y="2832100"/>
            <a:ext cx="256032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1353185" y="2877820"/>
            <a:ext cx="25603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最佳参数组合</a:t>
            </a: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4187825" y="2877820"/>
            <a:ext cx="685800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vocabSize=7000, minDF=7, maxDF=0.9</a:t>
            </a:r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1353185" y="3655060"/>
            <a:ext cx="256032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1353185" y="3700780"/>
            <a:ext cx="25603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轮廓系数改善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4187825" y="3700780"/>
            <a:ext cx="685800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-2.10 vs 基准-2.15，改善0.05 (2.3%)</a:t>
            </a:r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1353185" y="4478020"/>
            <a:ext cx="256032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1353185" y="4523740"/>
            <a:ext cx="25603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聚类分布优化</a:t>
            </a: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4187825" y="4523740"/>
            <a:ext cx="685800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最大聚类占比 46.2% → 40%，标准差降低13.9%</a:t>
            </a:r>
          </a:p>
        </p:txBody>
      </p:sp>
      <p:sp>
        <p:nvSpPr>
          <p:cNvPr id="17" name="Rectangle 16"/>
          <p:cNvSpPr/>
          <p:nvPr>
            <p:custDataLst>
              <p:tags r:id="rId13"/>
            </p:custDataLst>
          </p:nvPr>
        </p:nvSpPr>
        <p:spPr>
          <a:xfrm>
            <a:off x="1353185" y="5300980"/>
            <a:ext cx="2560320" cy="5486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1353185" y="5346700"/>
            <a:ext cx="256032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运行效率</a:t>
            </a: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4187825" y="5346700"/>
            <a:ext cx="685800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仅增加0.1小时 (2.4%)，效率相当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2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3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4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5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6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7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8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9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10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11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12.xml><?xml version="1.0" encoding="utf-8"?>
<p:tagLst xmlns:p="http://schemas.openxmlformats.org/presentationml/2006/main">
  <p:tag name="KSO_WM_DIAGRAM_VIRTUALLY_FRAME" val="{&quot;height&quot;:252,&quot;left&quot;:108,&quot;top&quot;:180,&quot;width&quot;:720}"/>
</p:tagLst>
</file>

<file path=ppt/tags/tag13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14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15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16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17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18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19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0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1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2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3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4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5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6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7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8.xml><?xml version="1.0" encoding="utf-8"?>
<p:tagLst xmlns:p="http://schemas.openxmlformats.org/presentationml/2006/main">
  <p:tag name="KSO_WM_DIAGRAM_VIRTUALLY_FRAME" val="{&quot;height&quot;:373.1,&quot;left&quot;:34.6,&quot;top&quot;:143,&quot;width&quot;:892.8}"/>
</p:tagLst>
</file>

<file path=ppt/tags/tag29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0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1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2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3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4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5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6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7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8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39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40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41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42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43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44.xml><?xml version="1.0" encoding="utf-8"?>
<p:tagLst xmlns:p="http://schemas.openxmlformats.org/presentationml/2006/main">
  <p:tag name="KSO_WM_DIAGRAM_VIRTUALLY_FRAME" val="{&quot;height&quot;:201.6,&quot;left&quot;:72,&quot;top&quot;:280.95,&quot;width&quot;:813.6}"/>
</p:tagLst>
</file>

<file path=ppt/tags/tag45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46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47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48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49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0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1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2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3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4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5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6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7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8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59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60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61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62.xml><?xml version="1.0" encoding="utf-8"?>
<p:tagLst xmlns:p="http://schemas.openxmlformats.org/presentationml/2006/main">
  <p:tag name="KSO_WM_DIAGRAM_VIRTUALLY_FRAME" val="{&quot;height&quot;:335.7,&quot;left&quot;:57.6,&quot;top&quot;:171.95,&quot;width&quot;:856.8}"/>
</p:tagLst>
</file>

<file path=ppt/tags/tag63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64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65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66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67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68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69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0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1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2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3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4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5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6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7.xml><?xml version="1.0" encoding="utf-8"?>
<p:tagLst xmlns:p="http://schemas.openxmlformats.org/presentationml/2006/main">
  <p:tag name="KSO_WM_DIAGRAM_VIRTUALLY_FRAME" val="{&quot;height&quot;:302.4,&quot;left&quot;:106.55,&quot;top&quot;:158.2,&quot;width&quot;:763.2}"/>
</p:tagLst>
</file>

<file path=ppt/tags/tag78.xml><?xml version="1.0" encoding="utf-8"?>
<p:tagLst xmlns:p="http://schemas.openxmlformats.org/presentationml/2006/main">
  <p:tag name="KSO_WPP_MARK_KEY" val="3563b83b-f0fa-4d2d-980e-4eb08943aafb"/>
  <p:tag name="COMMONDATA" val="eyJoZGlkIjoiNGY2YWM0NWEwNDdlZDdlMzZiZmVhZjZiMTdjY2Q2ZTUifQ=="/>
</p:tagLst>
</file>

<file path=ppt/theme/theme1.xml><?xml version="1.0" encoding="utf-8"?>
<a:theme xmlns:a="http://schemas.openxmlformats.org/drawingml/2006/main" name="主题5">
  <a:themeElements>
    <a:clrScheme name="20171020-0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B4E72"/>
      </a:accent1>
      <a:accent2>
        <a:srgbClr val="2790B0"/>
      </a:accent2>
      <a:accent3>
        <a:srgbClr val="94BA65"/>
      </a:accent3>
      <a:accent4>
        <a:srgbClr val="353432"/>
      </a:accent4>
      <a:accent5>
        <a:srgbClr val="4E4D4A"/>
      </a:accent5>
      <a:accent6>
        <a:srgbClr val="BFBFBF"/>
      </a:accent6>
      <a:hlink>
        <a:srgbClr val="0077B5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2330</Words>
  <Application>WPS 演示</Application>
  <PresentationFormat>宽屏</PresentationFormat>
  <Paragraphs>387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主题5</vt:lpstr>
      <vt:lpstr>PowerPoint 演示文稿</vt:lpstr>
      <vt:lpstr>汇报大纲</vt:lpstr>
      <vt:lpstr>一、实现原理 — 优化方向总览</vt:lpstr>
      <vt:lpstr>二、实验结果 — 64种参数组合设计</vt:lpstr>
      <vt:lpstr>二、实验结果 — 64种组合四梯队结果</vt:lpstr>
      <vt:lpstr>二、实验结果 — 参数维度影响分析</vt:lpstr>
      <vt:lpstr>二、实验结果 — 最佳参数组合推荐</vt:lpstr>
      <vt:lpstr>三、分析 — 参数组合协同效应分析</vt:lpstr>
      <vt:lpstr>三、分析 — 与基准方案对比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傅 永鸿</dc:creator>
  <cp:lastModifiedBy>999</cp:lastModifiedBy>
  <cp:revision>537</cp:revision>
  <dcterms:created xsi:type="dcterms:W3CDTF">2018-10-08T12:30:00Z</dcterms:created>
  <dcterms:modified xsi:type="dcterms:W3CDTF">2026-06-07T03:12:53Z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2A8FF487B82746B48A66CB6B180C6662_13</vt:lpwstr>
  </property>
  <property fmtid="{D5CDD505-2E9C-101B-9397-08002B2CF9AE}" pid="3" name="KSOProductBuildVer">
    <vt:lpwstr>2052-12.1.0.26895</vt:lpwstr>
  </property>
</Properties>
</file>